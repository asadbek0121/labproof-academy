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bdb89601004cf1" /><Relationship Type="http://schemas.openxmlformats.org/officeDocument/2006/relationships/extended-properties" Target="/docProps/app.xml" Id="R10ad80351c1a47e1" /><Relationship Type="http://schemas.openxmlformats.org/officeDocument/2006/relationships/officeDocument" Target="/ppt/presentation.xml" Id="R1c0b3d7b6b414e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f045f66ff54b97"/>
  </p:sldMasterIdLst>
  <p:notesMasterIdLst>
    <p:notesMasterId xmlns:r="http://schemas.openxmlformats.org/officeDocument/2006/relationships" r:id="R12a8ab718296404e"/>
  </p:notesMasterIdLst>
  <p:sldIdLst>
    <p:sldId xmlns:r="http://schemas.openxmlformats.org/officeDocument/2006/relationships" id="256" r:id="R4a2c5ff240614989"/>
    <p:sldId xmlns:r="http://schemas.openxmlformats.org/officeDocument/2006/relationships" id="257" r:id="R65c7893e95bb4504"/>
    <p:sldId xmlns:r="http://schemas.openxmlformats.org/officeDocument/2006/relationships" id="258" r:id="R93c401c9b9e94849"/>
    <p:sldId xmlns:r="http://schemas.openxmlformats.org/officeDocument/2006/relationships" id="259" r:id="R1d2133ead2614609"/>
    <p:sldId xmlns:r="http://schemas.openxmlformats.org/officeDocument/2006/relationships" id="260" r:id="R2a63e739abe94ecd"/>
    <p:sldId xmlns:r="http://schemas.openxmlformats.org/officeDocument/2006/relationships" id="261" r:id="R3e738b834aaa4142"/>
    <p:sldId xmlns:r="http://schemas.openxmlformats.org/officeDocument/2006/relationships" id="262" r:id="Rb93f21b3cfcc495a"/>
    <p:sldId xmlns:r="http://schemas.openxmlformats.org/officeDocument/2006/relationships" id="263" r:id="R25bf3e56fa1840b2"/>
    <p:sldId xmlns:r="http://schemas.openxmlformats.org/officeDocument/2006/relationships" id="264" r:id="R0a833a4d35ea440f"/>
    <p:sldId xmlns:r="http://schemas.openxmlformats.org/officeDocument/2006/relationships" id="265" r:id="Rd2e4c1bd9ca74ea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f045f66ff54b97" /><Relationship Type="http://schemas.openxmlformats.org/officeDocument/2006/relationships/theme" Target="/ppt/theme/theme1.xml" Id="Rbfb06ccc851246a2" /><Relationship Type="http://schemas.openxmlformats.org/officeDocument/2006/relationships/notesMaster" Target="/ppt/notesMasters/notesMaster1.xml" Id="R12a8ab718296404e" /><Relationship Type="http://schemas.openxmlformats.org/officeDocument/2006/relationships/presProps" Target="/ppt/presProps.xml" Id="Ra11d2776607d4c3e" /><Relationship Type="http://schemas.openxmlformats.org/officeDocument/2006/relationships/viewProps" Target="/ppt/viewProps.xml" Id="Rb44c3eed42064821" /><Relationship Type="http://schemas.openxmlformats.org/officeDocument/2006/relationships/tableStyles" Target="/ppt/tableStyles.xml" Id="R36e92e66e6bc47d1" /><Relationship Type="http://schemas.openxmlformats.org/officeDocument/2006/relationships/slide" Target="/ppt/slides/slide1.xml" Id="R4a2c5ff240614989" /><Relationship Type="http://schemas.openxmlformats.org/officeDocument/2006/relationships/slide" Target="/ppt/slides/slide2.xml" Id="R65c7893e95bb4504" /><Relationship Type="http://schemas.openxmlformats.org/officeDocument/2006/relationships/slide" Target="/ppt/slides/slide3.xml" Id="R93c401c9b9e94849" /><Relationship Type="http://schemas.openxmlformats.org/officeDocument/2006/relationships/slide" Target="/ppt/slides/slide4.xml" Id="R1d2133ead2614609" /><Relationship Type="http://schemas.openxmlformats.org/officeDocument/2006/relationships/slide" Target="/ppt/slides/slide5.xml" Id="R2a63e739abe94ecd" /><Relationship Type="http://schemas.openxmlformats.org/officeDocument/2006/relationships/slide" Target="/ppt/slides/slide6.xml" Id="R3e738b834aaa4142" /><Relationship Type="http://schemas.openxmlformats.org/officeDocument/2006/relationships/slide" Target="/ppt/slides/slide7.xml" Id="Rb93f21b3cfcc495a" /><Relationship Type="http://schemas.openxmlformats.org/officeDocument/2006/relationships/slide" Target="/ppt/slides/slide8.xml" Id="R25bf3e56fa1840b2" /><Relationship Type="http://schemas.openxmlformats.org/officeDocument/2006/relationships/slide" Target="/ppt/slides/slide9.xml" Id="R0a833a4d35ea440f" /><Relationship Type="http://schemas.openxmlformats.org/officeDocument/2006/relationships/slide" Target="/ppt/slides/slide10.xml" Id="Rd2e4c1bd9ca74e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1f4d95b33a240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550df10330402f" /><Relationship Type="http://schemas.openxmlformats.org/officeDocument/2006/relationships/notesMaster" Target="/ppt/notesMasters/notesMaster1.xml" Id="R6c5d2b8d64a44a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8578942a7245ff" /><Relationship Type="http://schemas.openxmlformats.org/officeDocument/2006/relationships/notesMaster" Target="/ppt/notesMasters/notesMaster1.xml" Id="Recedcd41b2cc46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cd133d51774f7a" /><Relationship Type="http://schemas.openxmlformats.org/officeDocument/2006/relationships/notesMaster" Target="/ppt/notesMasters/notesMaster1.xml" Id="Rd7ea3d97befa43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f22c1dec6f4611" /><Relationship Type="http://schemas.openxmlformats.org/officeDocument/2006/relationships/notesMaster" Target="/ppt/notesMasters/notesMaster1.xml" Id="R47c5ec5d84e144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4db64b957342ce" /><Relationship Type="http://schemas.openxmlformats.org/officeDocument/2006/relationships/notesMaster" Target="/ppt/notesMasters/notesMaster1.xml" Id="Rfd0e703f9bb242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bd43ff61e446a2" /><Relationship Type="http://schemas.openxmlformats.org/officeDocument/2006/relationships/notesMaster" Target="/ppt/notesMasters/notesMaster1.xml" Id="Reb2cd7d3585444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2d48b3c1b04e3c" /><Relationship Type="http://schemas.openxmlformats.org/officeDocument/2006/relationships/notesMaster" Target="/ppt/notesMasters/notesMaster1.xml" Id="R55badcdbba704e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b476b9484f4e86" /><Relationship Type="http://schemas.openxmlformats.org/officeDocument/2006/relationships/notesMaster" Target="/ppt/notesMasters/notesMaster1.xml" Id="R2cf73fadd28043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870ed77702444b" /><Relationship Type="http://schemas.openxmlformats.org/officeDocument/2006/relationships/notesMaster" Target="/ppt/notesMasters/notesMaster1.xml" Id="Ra45aa71b041244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4b554720774259" /><Relationship Type="http://schemas.openxmlformats.org/officeDocument/2006/relationships/notesMaster" Target="/ppt/notesMasters/notesMaster1.xml" Id="R1744e4dc125b4b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967ae4021401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8453f9a377e42e5" /><Relationship Type="http://schemas.openxmlformats.org/officeDocument/2006/relationships/slideLayout" Target="/ppt/slideLayouts/slideLayout2.xml" Id="R55a8044b783448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a8044b783448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eedc844ddb4c72" /><Relationship Type="http://schemas.openxmlformats.org/officeDocument/2006/relationships/notesSlide" Target="/ppt/notesSlides/notesSlide1.xml" Id="R26741f36406b40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03c7d361fe4bf4" /><Relationship Type="http://schemas.openxmlformats.org/officeDocument/2006/relationships/notesSlide" Target="/ppt/notesSlides/notesSlide2.xml" Id="Rc6453fb1194040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6e2bea17394336" /><Relationship Type="http://schemas.openxmlformats.org/officeDocument/2006/relationships/notesSlide" Target="/ppt/notesSlides/notesSlide3.xml" Id="R0d902bcbab6f45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4e665a1e754a10" /><Relationship Type="http://schemas.openxmlformats.org/officeDocument/2006/relationships/notesSlide" Target="/ppt/notesSlides/notesSlide4.xml" Id="R0652da7cea1042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d283b1644444fb" /><Relationship Type="http://schemas.openxmlformats.org/officeDocument/2006/relationships/notesSlide" Target="/ppt/notesSlides/notesSlide5.xml" Id="Rfba745f8ee1747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ef236367104aac" /><Relationship Type="http://schemas.openxmlformats.org/officeDocument/2006/relationships/notesSlide" Target="/ppt/notesSlides/notesSlide6.xml" Id="R0d7c601978374b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86f978e39941cd" /><Relationship Type="http://schemas.openxmlformats.org/officeDocument/2006/relationships/notesSlide" Target="/ppt/notesSlides/notesSlide7.xml" Id="Rc410e50790c84e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580173585a4582" /><Relationship Type="http://schemas.openxmlformats.org/officeDocument/2006/relationships/notesSlide" Target="/ppt/notesSlides/notesSlide8.xml" Id="R716c7712cc1a4c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63f06053b8490d" /><Relationship Type="http://schemas.openxmlformats.org/officeDocument/2006/relationships/notesSlide" Target="/ppt/notesSlides/notesSlide9.xml" Id="Rfd7e8fe463684f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b87b1f7f0a4fe7" /><Relationship Type="http://schemas.openxmlformats.org/officeDocument/2006/relationships/notesSlide" Target="/ppt/notesSlides/notesSlide10.xml" Id="R5b3b8713a2ce4e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E00BCB3-4706-48AC-8E95-F394A930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60502-CAD4-4201-BD89-8C3843E7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ink-field">
            <a:extLst xmlns:a="http://schemas.openxmlformats.org/drawingml/2006/main">
              <a:ext uri="{FF2B5EF4-FFF2-40B4-BE49-F238E27FC236}">
                <a16:creationId xmlns:a16="http://schemas.microsoft.com/office/drawing/2014/main" id="{E030767F-4999-499E-B3B9-EEE980E8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0"/>
            <a:ext cx="371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ight-field-divider">
            <a:extLst xmlns:a="http://schemas.openxmlformats.org/drawingml/2006/main">
              <a:ext uri="{FF2B5EF4-FFF2-40B4-BE49-F238E27FC236}">
                <a16:creationId xmlns:a16="http://schemas.microsoft.com/office/drawing/2014/main" id="{AB870F7A-D6E2-43AB-AB63-F0862EDA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1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cover-baseline">
            <a:extLst xmlns:a="http://schemas.openxmlformats.org/drawingml/2006/main">
              <a:ext uri="{FF2B5EF4-FFF2-40B4-BE49-F238E27FC236}">
                <a16:creationId xmlns:a16="http://schemas.microsoft.com/office/drawing/2014/main" id="{0A0D3F7C-81C6-492B-81B9-382E2F60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557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power-line-0">
            <a:extLst xmlns:a="http://schemas.openxmlformats.org/drawingml/2006/main">
              <a:ext uri="{FF2B5EF4-FFF2-40B4-BE49-F238E27FC236}">
                <a16:creationId xmlns:a16="http://schemas.microsoft.com/office/drawing/2014/main" id="{9CCFCFBC-D0D8-43F8-9BB5-20682B59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power-node-0">
            <a:extLst xmlns:a="http://schemas.openxmlformats.org/drawingml/2006/main">
              <a:ext uri="{FF2B5EF4-FFF2-40B4-BE49-F238E27FC236}">
                <a16:creationId xmlns:a16="http://schemas.microsoft.com/office/drawing/2014/main" id="{B7076613-3FCD-42FB-B9E8-2478C827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power-line-1">
            <a:extLst xmlns:a="http://schemas.openxmlformats.org/drawingml/2006/main">
              <a:ext uri="{FF2B5EF4-FFF2-40B4-BE49-F238E27FC236}">
                <a16:creationId xmlns:a16="http://schemas.microsoft.com/office/drawing/2014/main" id="{1854800F-46FD-45DC-B938-D630182C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14700"/>
            <a:ext cx="19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power-node-1">
            <a:extLst xmlns:a="http://schemas.openxmlformats.org/drawingml/2006/main">
              <a:ext uri="{FF2B5EF4-FFF2-40B4-BE49-F238E27FC236}">
                <a16:creationId xmlns:a16="http://schemas.microsoft.com/office/drawing/2014/main" id="{D097DDE7-BAC7-4084-9FDA-7B839908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ower-line-2">
            <a:extLst xmlns:a="http://schemas.openxmlformats.org/drawingml/2006/main">
              <a:ext uri="{FF2B5EF4-FFF2-40B4-BE49-F238E27FC236}">
                <a16:creationId xmlns:a16="http://schemas.microsoft.com/office/drawing/2014/main" id="{9472236F-010A-41E5-8588-2BC73E7B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power-node-2">
            <a:extLst xmlns:a="http://schemas.openxmlformats.org/drawingml/2006/main">
              <a:ext uri="{FF2B5EF4-FFF2-40B4-BE49-F238E27FC236}">
                <a16:creationId xmlns:a16="http://schemas.microsoft.com/office/drawing/2014/main" id="{095110BE-0526-4C3A-9A34-40A0FF53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ower-line-3">
            <a:extLst xmlns:a="http://schemas.openxmlformats.org/drawingml/2006/main">
              <a:ext uri="{FF2B5EF4-FFF2-40B4-BE49-F238E27FC236}">
                <a16:creationId xmlns:a16="http://schemas.microsoft.com/office/drawing/2014/main" id="{F825DEDE-C45D-4509-8B0E-EABFCE3E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8610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power-node-3">
            <a:extLst xmlns:a="http://schemas.openxmlformats.org/drawingml/2006/main">
              <a:ext uri="{FF2B5EF4-FFF2-40B4-BE49-F238E27FC236}">
                <a16:creationId xmlns:a16="http://schemas.microsoft.com/office/drawing/2014/main" id="{601BA117-F453-4B6B-81CF-BCD4750B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ower-line-4">
            <a:extLst xmlns:a="http://schemas.openxmlformats.org/drawingml/2006/main">
              <a:ext uri="{FF2B5EF4-FFF2-40B4-BE49-F238E27FC236}">
                <a16:creationId xmlns:a16="http://schemas.microsoft.com/office/drawing/2014/main" id="{CAFC1A0D-7052-48EB-A746-6F6F937C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71800"/>
            <a:ext cx="19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power-node-4">
            <a:extLst xmlns:a="http://schemas.openxmlformats.org/drawingml/2006/main">
              <a:ext uri="{FF2B5EF4-FFF2-40B4-BE49-F238E27FC236}">
                <a16:creationId xmlns:a16="http://schemas.microsoft.com/office/drawing/2014/main" id="{2593330C-E0B3-47C5-8736-9B04DC68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33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power-line-5">
            <a:extLst xmlns:a="http://schemas.openxmlformats.org/drawingml/2006/main">
              <a:ext uri="{FF2B5EF4-FFF2-40B4-BE49-F238E27FC236}">
                <a16:creationId xmlns:a16="http://schemas.microsoft.com/office/drawing/2014/main" id="{FD0EAD16-3FF4-4D86-809E-3A262716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power-node-5">
            <a:extLst xmlns:a="http://schemas.openxmlformats.org/drawingml/2006/main">
              <a:ext uri="{FF2B5EF4-FFF2-40B4-BE49-F238E27FC236}">
                <a16:creationId xmlns:a16="http://schemas.microsoft.com/office/drawing/2014/main" id="{1FEC7B9F-7561-4569-9F46-589D1453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ower-line-6">
            <a:extLst xmlns:a="http://schemas.openxmlformats.org/drawingml/2006/main">
              <a:ext uri="{FF2B5EF4-FFF2-40B4-BE49-F238E27FC236}">
                <a16:creationId xmlns:a16="http://schemas.microsoft.com/office/drawing/2014/main" id="{9AD5F833-207B-40FB-8B57-D09440E4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4320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power-node-6">
            <a:extLst xmlns:a="http://schemas.openxmlformats.org/drawingml/2006/main">
              <a:ext uri="{FF2B5EF4-FFF2-40B4-BE49-F238E27FC236}">
                <a16:creationId xmlns:a16="http://schemas.microsoft.com/office/drawing/2014/main" id="{397164AB-791A-47A2-B836-8BEB126D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power-line-7">
            <a:extLst xmlns:a="http://schemas.openxmlformats.org/drawingml/2006/main">
              <a:ext uri="{FF2B5EF4-FFF2-40B4-BE49-F238E27FC236}">
                <a16:creationId xmlns:a16="http://schemas.microsoft.com/office/drawing/2014/main" id="{3CD651D3-B1F5-423C-9EA1-AF1ADFBB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28900"/>
            <a:ext cx="19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power-node-7">
            <a:extLst xmlns:a="http://schemas.openxmlformats.org/drawingml/2006/main">
              <a:ext uri="{FF2B5EF4-FFF2-40B4-BE49-F238E27FC236}">
                <a16:creationId xmlns:a16="http://schemas.microsoft.com/office/drawing/2014/main" id="{E921171C-013C-414C-B646-9B04B0DB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power-horizontal-link">
            <a:extLst xmlns:a="http://schemas.openxmlformats.org/drawingml/2006/main">
              <a:ext uri="{FF2B5EF4-FFF2-40B4-BE49-F238E27FC236}">
                <a16:creationId xmlns:a16="http://schemas.microsoft.com/office/drawing/2014/main" id="{0CA096C6-57DC-4C48-90BD-F5F04114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81450"/>
            <a:ext cx="224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D8224A71-DCDC-4787-8F2D-8C83FC2E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41771B3B-F134-4B17-8787-90AF4893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ELECTRICAL INNOVATION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AF65A9-9B3B-452F-86F5-A00FDD88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723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Electrical innovation is becoming a system advantage, not a component upgrade.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DB367E-BD28-4FC2-A43E-473DB8FB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571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Power electronics, storage, sensing, and software are converging into adaptive energy systems that can convert, store, route, and optimize electricity in real time.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2CF06-87FA-48F5-8E57-80617BAF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Professional 10-slide brief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46F31C-A965-4788-AC3A-8B958099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Built for executive technology discussion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505D91-51A4-48B0-950B-0268877B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524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C7D0D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7D0DD"/>
                </a:solidFill>
                <a:latin typeface="Aptos"/>
                <a:ea typeface="Aptos"/>
                <a:cs typeface="Aptos"/>
              </a:rPr>
              <a:t>SYSTEM SIGNALS</a:t>
            </a:r>
          </a:p>
        </p:txBody>
      </p:sp>
      <p:sp>
        <p:nvSpPr>
          <p:cNvPr id="30" name="metric-ev-rule">
            <a:extLst xmlns:a="http://schemas.openxmlformats.org/drawingml/2006/main">
              <a:ext uri="{FF2B5EF4-FFF2-40B4-BE49-F238E27FC236}">
                <a16:creationId xmlns:a16="http://schemas.microsoft.com/office/drawing/2014/main" id="{2AB84A2D-366F-4CD4-9916-6F8A9C71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25730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metric-ev-value">
            <a:extLst xmlns:a="http://schemas.openxmlformats.org/drawingml/2006/main">
              <a:ext uri="{FF2B5EF4-FFF2-40B4-BE49-F238E27FC236}">
                <a16:creationId xmlns:a16="http://schemas.microsoft.com/office/drawing/2014/main" id="{F6129F18-FEB8-438A-999C-B7236280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3825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17M+</a:t>
            </a:r>
          </a:p>
        </p:txBody>
      </p:sp>
      <p:sp>
        <p:nvSpPr>
          <p:cNvPr id="32" name="metric-ev-label">
            <a:extLst xmlns:a="http://schemas.openxmlformats.org/drawingml/2006/main">
              <a:ext uri="{FF2B5EF4-FFF2-40B4-BE49-F238E27FC236}">
                <a16:creationId xmlns:a16="http://schemas.microsoft.com/office/drawing/2014/main" id="{D009804F-5104-4280-B1BE-99DA3305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71625"/>
            <a:ext cx="2324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C3CAD4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C3CAD4"/>
                </a:solidFill>
                <a:latin typeface="Aptos"/>
                <a:ea typeface="Aptos"/>
                <a:cs typeface="Aptos"/>
              </a:rPr>
              <a:t>ELECTRIC CARS SOLD</a:t>
            </a:r>
          </a:p>
        </p:txBody>
      </p:sp>
      <p:sp>
        <p:nvSpPr>
          <p:cNvPr id="33" name="metric-ev-note">
            <a:extLst xmlns:a="http://schemas.openxmlformats.org/drawingml/2006/main">
              <a:ext uri="{FF2B5EF4-FFF2-40B4-BE49-F238E27FC236}">
                <a16:creationId xmlns:a16="http://schemas.microsoft.com/office/drawing/2014/main" id="{128883B0-F4EB-4356-AE41-78D0116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335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8C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EB8C4"/>
                </a:solidFill>
                <a:latin typeface="Aptos"/>
                <a:ea typeface="Aptos"/>
                <a:cs typeface="Aptos"/>
              </a:rPr>
              <a:t>global 2024 sales</a:t>
            </a:r>
          </a:p>
        </p:txBody>
      </p:sp>
      <p:sp>
        <p:nvSpPr>
          <p:cNvPr id="34" name="metric-storage-rule">
            <a:extLst xmlns:a="http://schemas.openxmlformats.org/drawingml/2006/main">
              <a:ext uri="{FF2B5EF4-FFF2-40B4-BE49-F238E27FC236}">
                <a16:creationId xmlns:a16="http://schemas.microsoft.com/office/drawing/2014/main" id="{17246EB6-E5F1-4FBD-8A46-78B276BD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7650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metric-storage-value">
            <a:extLst xmlns:a="http://schemas.openxmlformats.org/drawingml/2006/main">
              <a:ext uri="{FF2B5EF4-FFF2-40B4-BE49-F238E27FC236}">
                <a16:creationId xmlns:a16="http://schemas.microsoft.com/office/drawing/2014/main" id="{E2E0495E-CC5E-463B-8F08-7ABB1044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42 GW</a:t>
            </a:r>
          </a:p>
        </p:txBody>
      </p:sp>
      <p:sp>
        <p:nvSpPr>
          <p:cNvPr id="36" name="metric-storage-label">
            <a:extLst xmlns:a="http://schemas.openxmlformats.org/drawingml/2006/main">
              <a:ext uri="{FF2B5EF4-FFF2-40B4-BE49-F238E27FC236}">
                <a16:creationId xmlns:a16="http://schemas.microsoft.com/office/drawing/2014/main" id="{5B3C884B-F3C9-4F77-B1C2-C4F11C52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90825"/>
            <a:ext cx="2324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C3CAD4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C3CAD4"/>
                </a:solidFill>
                <a:latin typeface="Aptos"/>
                <a:ea typeface="Aptos"/>
                <a:cs typeface="Aptos"/>
              </a:rPr>
              <a:t>BATTERY STORAGE ADDED</a:t>
            </a:r>
          </a:p>
        </p:txBody>
      </p:sp>
      <p:sp>
        <p:nvSpPr>
          <p:cNvPr id="37" name="metric-storage-note">
            <a:extLst xmlns:a="http://schemas.openxmlformats.org/drawingml/2006/main">
              <a:ext uri="{FF2B5EF4-FFF2-40B4-BE49-F238E27FC236}">
                <a16:creationId xmlns:a16="http://schemas.microsoft.com/office/drawing/2014/main" id="{EC93A791-21DA-43D9-853E-752BB47F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527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8C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EB8C4"/>
                </a:solidFill>
                <a:latin typeface="Aptos"/>
                <a:ea typeface="Aptos"/>
                <a:cs typeface="Aptos"/>
              </a:rPr>
              <a:t>global power sector 2023</a:t>
            </a:r>
          </a:p>
        </p:txBody>
      </p:sp>
      <p:sp>
        <p:nvSpPr>
          <p:cNvPr id="38" name="metric-grid-rule">
            <a:extLst xmlns:a="http://schemas.openxmlformats.org/drawingml/2006/main">
              <a:ext uri="{FF2B5EF4-FFF2-40B4-BE49-F238E27FC236}">
                <a16:creationId xmlns:a16="http://schemas.microsoft.com/office/drawing/2014/main" id="{1D868CCA-47E1-46DD-A5B6-8A60F696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9570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metric-grid-value">
            <a:extLst xmlns:a="http://schemas.openxmlformats.org/drawingml/2006/main">
              <a:ext uri="{FF2B5EF4-FFF2-40B4-BE49-F238E27FC236}">
                <a16:creationId xmlns:a16="http://schemas.microsoft.com/office/drawing/2014/main" id="{5B16F843-16D4-4357-95A9-0A127292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7665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80M km</a:t>
            </a:r>
          </a:p>
        </p:txBody>
      </p:sp>
      <p:sp>
        <p:nvSpPr>
          <p:cNvPr id="40" name="metric-grid-label">
            <a:extLst xmlns:a="http://schemas.openxmlformats.org/drawingml/2006/main">
              <a:ext uri="{FF2B5EF4-FFF2-40B4-BE49-F238E27FC236}">
                <a16:creationId xmlns:a16="http://schemas.microsoft.com/office/drawing/2014/main" id="{41B8EDB6-4973-4116-86B5-20A8980F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10025"/>
            <a:ext cx="2324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C3CAD4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C3CAD4"/>
                </a:solidFill>
                <a:latin typeface="Aptos"/>
                <a:ea typeface="Aptos"/>
                <a:cs typeface="Aptos"/>
              </a:rPr>
              <a:t>GRID LINES WORLDWIDE</a:t>
            </a:r>
          </a:p>
        </p:txBody>
      </p:sp>
      <p:sp>
        <p:nvSpPr>
          <p:cNvPr id="41" name="metric-grid-note">
            <a:extLst xmlns:a="http://schemas.openxmlformats.org/drawingml/2006/main">
              <a:ext uri="{FF2B5EF4-FFF2-40B4-BE49-F238E27FC236}">
                <a16:creationId xmlns:a16="http://schemas.microsoft.com/office/drawing/2014/main" id="{3F846D6C-60EF-4C89-8F12-2FF71AE6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8C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EB8C4"/>
                </a:solidFill>
                <a:latin typeface="Aptos"/>
                <a:ea typeface="Aptos"/>
                <a:cs typeface="Aptos"/>
              </a:rPr>
              <a:t>transmission and distribution</a:t>
            </a:r>
          </a:p>
        </p:txBody>
      </p:sp>
      <p:sp>
        <p:nvSpPr>
          <p:cNvPr id="42" name="right-margin-rule">
            <a:extLst xmlns:a="http://schemas.openxmlformats.org/drawingml/2006/main">
              <a:ext uri="{FF2B5EF4-FFF2-40B4-BE49-F238E27FC236}">
                <a16:creationId xmlns:a16="http://schemas.microsoft.com/office/drawing/2014/main" id="{33DD1DE0-19F1-4F4D-8E44-5C2FFF3E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143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5F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39F2B50-7DC7-435A-8CDA-85C24569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A018A8E-E02C-4C6E-8583-249E662C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D879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0AA1F28-9E86-4702-99DB-A290BE0F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486525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7D8796"/>
                </a:solidFill>
                <a:latin typeface="Aptos"/>
                <a:ea typeface="Aptos"/>
                <a:cs typeface="Aptos"/>
              </a:rPr>
              <a:t>Sources: IEA Global EV Outlook 2025; IEA Batteries; IEA Smart Grids</a:t>
            </a:r>
          </a:p>
        </p:txBody>
      </p:sp>
    </p:spTree>
    <p:extLst>
      <p:ext uri="{BB962C8B-B14F-4D97-AF65-F5344CB8AC3E}">
        <p14:creationId xmlns:p14="http://schemas.microsoft.com/office/powerpoint/2010/main" val="9129193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88CB595-8E6E-4FD7-A0C1-B65FB9E6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F2306611-4FB7-451C-90E9-155B11ED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2516D7FF-ECF4-468D-AF31-F09CCE32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ACCELERATION DRIVERS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1C2AF-BBBC-4C26-8A26-AB7A637D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90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Four technology shifts are compressing the innovation cycle.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E2007-ED0F-4570-B79C-9BF2718B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Electrical innovation now compounds because device-level gains feed system-level control. Faster conversion, cheaper storage, denser sensing, and software orchestration reinforce each other.</a:t>
            </a:r>
          </a:p>
        </p:txBody>
      </p:sp>
      <p:sp>
        <p:nvSpPr>
          <p:cNvPr id="6" name="timeline-base">
            <a:extLst xmlns:a="http://schemas.openxmlformats.org/drawingml/2006/main">
              <a:ext uri="{FF2B5EF4-FFF2-40B4-BE49-F238E27FC236}">
                <a16:creationId xmlns:a16="http://schemas.microsoft.com/office/drawing/2014/main" id="{BB166C0F-8230-4EDE-BC21-6952CD62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819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driver-0-number-band">
            <a:extLst xmlns:a="http://schemas.openxmlformats.org/drawingml/2006/main">
              <a:ext uri="{FF2B5EF4-FFF2-40B4-BE49-F238E27FC236}">
                <a16:creationId xmlns:a16="http://schemas.microsoft.com/office/drawing/2014/main" id="{13AD1E09-F8BC-453C-AC80-2F2F58B8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driver-0-num">
            <a:extLst xmlns:a="http://schemas.openxmlformats.org/drawingml/2006/main">
              <a:ext uri="{FF2B5EF4-FFF2-40B4-BE49-F238E27FC236}">
                <a16:creationId xmlns:a16="http://schemas.microsoft.com/office/drawing/2014/main" id="{A49C9905-3C0A-4F8F-BEAA-FA84E2C5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driver-0-label">
            <a:extLst xmlns:a="http://schemas.openxmlformats.org/drawingml/2006/main">
              <a:ext uri="{FF2B5EF4-FFF2-40B4-BE49-F238E27FC236}">
                <a16:creationId xmlns:a16="http://schemas.microsoft.com/office/drawing/2014/main" id="{E359F150-16B5-40B0-83D9-74DF92C3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7655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Power electronics</a:t>
            </a:r>
          </a:p>
        </p:txBody>
      </p:sp>
      <p:sp>
        <p:nvSpPr>
          <p:cNvPr id="10" name="driver-0-box">
            <a:extLst xmlns:a="http://schemas.openxmlformats.org/drawingml/2006/main">
              <a:ext uri="{FF2B5EF4-FFF2-40B4-BE49-F238E27FC236}">
                <a16:creationId xmlns:a16="http://schemas.microsoft.com/office/drawing/2014/main" id="{C7788421-4057-4428-A398-2B6C99CB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CBD"/>
            </a:solidFill>
            <a:prstDash val="solid"/>
          </a:ln>
        </p:spPr>
      </p:sp>
      <p:sp>
        <p:nvSpPr>
          <p:cNvPr id="11" name="driver-0-detail">
            <a:extLst xmlns:a="http://schemas.openxmlformats.org/drawingml/2006/main">
              <a:ext uri="{FF2B5EF4-FFF2-40B4-BE49-F238E27FC236}">
                <a16:creationId xmlns:a16="http://schemas.microsoft.com/office/drawing/2014/main" id="{C4693191-B407-4E5E-9360-45BB3B7A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1504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SiC and GaN unlock higher frequency, thermal headroom, and smaller converter footprints.</a:t>
            </a:r>
          </a:p>
        </p:txBody>
      </p:sp>
      <p:sp>
        <p:nvSpPr>
          <p:cNvPr id="12" name="driver-0-score-track">
            <a:extLst xmlns:a="http://schemas.openxmlformats.org/drawingml/2006/main">
              <a:ext uri="{FF2B5EF4-FFF2-40B4-BE49-F238E27FC236}">
                <a16:creationId xmlns:a16="http://schemas.microsoft.com/office/drawing/2014/main" id="{D6D184CA-399D-4271-8E7A-4CB9F5BE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529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driver-0-score-fill">
            <a:extLst xmlns:a="http://schemas.openxmlformats.org/drawingml/2006/main">
              <a:ext uri="{FF2B5EF4-FFF2-40B4-BE49-F238E27FC236}">
                <a16:creationId xmlns:a16="http://schemas.microsoft.com/office/drawing/2014/main" id="{5DDBE96B-0851-422A-B21D-76BE42C1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5290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driver-0-score-label">
            <a:extLst xmlns:a="http://schemas.openxmlformats.org/drawingml/2006/main">
              <a:ext uri="{FF2B5EF4-FFF2-40B4-BE49-F238E27FC236}">
                <a16:creationId xmlns:a16="http://schemas.microsoft.com/office/drawing/2014/main" id="{81B79202-774C-463A-9691-E6311F8F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6720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readiness index</a:t>
            </a:r>
          </a:p>
        </p:txBody>
      </p:sp>
      <p:sp>
        <p:nvSpPr>
          <p:cNvPr id="15" name="driver-0-timeline-pin">
            <a:extLst xmlns:a="http://schemas.openxmlformats.org/drawingml/2006/main">
              <a:ext uri="{FF2B5EF4-FFF2-40B4-BE49-F238E27FC236}">
                <a16:creationId xmlns:a16="http://schemas.microsoft.com/office/drawing/2014/main" id="{CC9FBAB3-03DD-4560-814E-CE45062A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76675"/>
            <a:ext cx="11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driver-1-number-band">
            <a:extLst xmlns:a="http://schemas.openxmlformats.org/drawingml/2006/main">
              <a:ext uri="{FF2B5EF4-FFF2-40B4-BE49-F238E27FC236}">
                <a16:creationId xmlns:a16="http://schemas.microsoft.com/office/drawing/2014/main" id="{EF76DA7A-9271-4665-BF05-F874A842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5527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driver-1-num">
            <a:extLst xmlns:a="http://schemas.openxmlformats.org/drawingml/2006/main">
              <a:ext uri="{FF2B5EF4-FFF2-40B4-BE49-F238E27FC236}">
                <a16:creationId xmlns:a16="http://schemas.microsoft.com/office/drawing/2014/main" id="{09753C9C-A2DF-4692-8CD8-016B75AC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6289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driver-1-label">
            <a:extLst xmlns:a="http://schemas.openxmlformats.org/drawingml/2006/main">
              <a:ext uri="{FF2B5EF4-FFF2-40B4-BE49-F238E27FC236}">
                <a16:creationId xmlns:a16="http://schemas.microsoft.com/office/drawing/2014/main" id="{DE100998-F11D-49C1-AA25-364CF031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4795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Storage flexibility</a:t>
            </a:r>
          </a:p>
        </p:txBody>
      </p:sp>
      <p:sp>
        <p:nvSpPr>
          <p:cNvPr id="19" name="driver-1-box">
            <a:extLst xmlns:a="http://schemas.openxmlformats.org/drawingml/2006/main">
              <a:ext uri="{FF2B5EF4-FFF2-40B4-BE49-F238E27FC236}">
                <a16:creationId xmlns:a16="http://schemas.microsoft.com/office/drawing/2014/main" id="{643164C6-C220-452C-AE41-08AF3BB6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1051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CBD"/>
            </a:solidFill>
            <a:prstDash val="solid"/>
          </a:ln>
        </p:spPr>
      </p:sp>
      <p:sp>
        <p:nvSpPr>
          <p:cNvPr id="20" name="driver-1-detail">
            <a:extLst xmlns:a="http://schemas.openxmlformats.org/drawingml/2006/main">
              <a:ext uri="{FF2B5EF4-FFF2-40B4-BE49-F238E27FC236}">
                <a16:creationId xmlns:a16="http://schemas.microsoft.com/office/drawing/2014/main" id="{B889DE99-BC90-4C8D-A456-D28537B6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76600"/>
            <a:ext cx="1504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Battery systems move from emergency backup toward daily dispatch and fast grid services.</a:t>
            </a:r>
          </a:p>
        </p:txBody>
      </p:sp>
      <p:sp>
        <p:nvSpPr>
          <p:cNvPr id="21" name="driver-1-score-track">
            <a:extLst xmlns:a="http://schemas.openxmlformats.org/drawingml/2006/main">
              <a:ext uri="{FF2B5EF4-FFF2-40B4-BE49-F238E27FC236}">
                <a16:creationId xmlns:a16="http://schemas.microsoft.com/office/drawing/2014/main" id="{69D7683A-D756-4946-B289-7A857AC5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243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driver-1-score-fill">
            <a:extLst xmlns:a="http://schemas.openxmlformats.org/drawingml/2006/main">
              <a:ext uri="{FF2B5EF4-FFF2-40B4-BE49-F238E27FC236}">
                <a16:creationId xmlns:a16="http://schemas.microsoft.com/office/drawing/2014/main" id="{15DD71CB-8D25-49FC-8DF7-99F6A58A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24300"/>
            <a:ext cx="1171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driver-1-score-label">
            <a:extLst xmlns:a="http://schemas.openxmlformats.org/drawingml/2006/main">
              <a:ext uri="{FF2B5EF4-FFF2-40B4-BE49-F238E27FC236}">
                <a16:creationId xmlns:a16="http://schemas.microsoft.com/office/drawing/2014/main" id="{575390FD-F86D-4587-A2F4-0CBA4142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3860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readiness index</a:t>
            </a:r>
          </a:p>
        </p:txBody>
      </p:sp>
      <p:sp>
        <p:nvSpPr>
          <p:cNvPr id="24" name="driver-1-timeline-pin">
            <a:extLst xmlns:a="http://schemas.openxmlformats.org/drawingml/2006/main">
              <a:ext uri="{FF2B5EF4-FFF2-40B4-BE49-F238E27FC236}">
                <a16:creationId xmlns:a16="http://schemas.microsoft.com/office/drawing/2014/main" id="{8F9EBA4C-48D8-4796-A8FA-DD01A3F5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876675"/>
            <a:ext cx="11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driver-2-number-band">
            <a:extLst xmlns:a="http://schemas.openxmlformats.org/drawingml/2006/main">
              <a:ext uri="{FF2B5EF4-FFF2-40B4-BE49-F238E27FC236}">
                <a16:creationId xmlns:a16="http://schemas.microsoft.com/office/drawing/2014/main" id="{BB213ACA-7747-482D-AC26-62493B13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241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driver-2-num">
            <a:extLst xmlns:a="http://schemas.openxmlformats.org/drawingml/2006/main">
              <a:ext uri="{FF2B5EF4-FFF2-40B4-BE49-F238E27FC236}">
                <a16:creationId xmlns:a16="http://schemas.microsoft.com/office/drawing/2014/main" id="{D1A85F4E-E9BB-4261-B132-AB328FA4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003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driver-2-label">
            <a:extLst xmlns:a="http://schemas.openxmlformats.org/drawingml/2006/main">
              <a:ext uri="{FF2B5EF4-FFF2-40B4-BE49-F238E27FC236}">
                <a16:creationId xmlns:a16="http://schemas.microsoft.com/office/drawing/2014/main" id="{A7834750-A60B-4BB6-BF43-2C790DC4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1935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Grid-edge sensing</a:t>
            </a:r>
          </a:p>
        </p:txBody>
      </p:sp>
      <p:sp>
        <p:nvSpPr>
          <p:cNvPr id="28" name="driver-2-box">
            <a:extLst xmlns:a="http://schemas.openxmlformats.org/drawingml/2006/main">
              <a:ext uri="{FF2B5EF4-FFF2-40B4-BE49-F238E27FC236}">
                <a16:creationId xmlns:a16="http://schemas.microsoft.com/office/drawing/2014/main" id="{2D8830E8-BD41-4EA7-99C0-F2C01131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765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CBD"/>
            </a:solidFill>
            <a:prstDash val="solid"/>
          </a:ln>
        </p:spPr>
      </p:sp>
      <p:sp>
        <p:nvSpPr>
          <p:cNvPr id="29" name="driver-2-detail">
            <a:extLst xmlns:a="http://schemas.openxmlformats.org/drawingml/2006/main">
              <a:ext uri="{FF2B5EF4-FFF2-40B4-BE49-F238E27FC236}">
                <a16:creationId xmlns:a16="http://schemas.microsoft.com/office/drawing/2014/main" id="{E99AE533-360E-4D5C-B5A1-9A41B178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48000"/>
            <a:ext cx="1504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Meters, phasors, inverters, and controllers reveal constraints before they become outages.</a:t>
            </a:r>
          </a:p>
        </p:txBody>
      </p:sp>
      <p:sp>
        <p:nvSpPr>
          <p:cNvPr id="30" name="driver-2-score-track">
            <a:extLst xmlns:a="http://schemas.openxmlformats.org/drawingml/2006/main">
              <a:ext uri="{FF2B5EF4-FFF2-40B4-BE49-F238E27FC236}">
                <a16:creationId xmlns:a16="http://schemas.microsoft.com/office/drawing/2014/main" id="{148070EF-6C25-4FBE-B236-C2952E59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957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driver-2-score-fill">
            <a:extLst xmlns:a="http://schemas.openxmlformats.org/drawingml/2006/main">
              <a:ext uri="{FF2B5EF4-FFF2-40B4-BE49-F238E27FC236}">
                <a16:creationId xmlns:a16="http://schemas.microsoft.com/office/drawing/2014/main" id="{60677436-E9DD-49F7-8468-C8A48173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95700"/>
            <a:ext cx="10572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driver-2-score-label">
            <a:extLst xmlns:a="http://schemas.openxmlformats.org/drawingml/2006/main">
              <a:ext uri="{FF2B5EF4-FFF2-40B4-BE49-F238E27FC236}">
                <a16:creationId xmlns:a16="http://schemas.microsoft.com/office/drawing/2014/main" id="{7841F63F-621D-46AA-BE22-530EDDC9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81000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readiness index</a:t>
            </a:r>
          </a:p>
        </p:txBody>
      </p:sp>
      <p:sp>
        <p:nvSpPr>
          <p:cNvPr id="33" name="driver-2-timeline-pin">
            <a:extLst xmlns:a="http://schemas.openxmlformats.org/drawingml/2006/main">
              <a:ext uri="{FF2B5EF4-FFF2-40B4-BE49-F238E27FC236}">
                <a16:creationId xmlns:a16="http://schemas.microsoft.com/office/drawing/2014/main" id="{516F719B-EC99-41C6-90C2-5B26B637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76675"/>
            <a:ext cx="11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driver-3-number-band">
            <a:extLst xmlns:a="http://schemas.openxmlformats.org/drawingml/2006/main">
              <a:ext uri="{FF2B5EF4-FFF2-40B4-BE49-F238E27FC236}">
                <a16:creationId xmlns:a16="http://schemas.microsoft.com/office/drawing/2014/main" id="{A2BBA190-7642-44D8-A907-E3406056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driver-3-num">
            <a:extLst xmlns:a="http://schemas.openxmlformats.org/drawingml/2006/main">
              <a:ext uri="{FF2B5EF4-FFF2-40B4-BE49-F238E27FC236}">
                <a16:creationId xmlns:a16="http://schemas.microsoft.com/office/drawing/2014/main" id="{19980ED9-8C63-496B-BF8A-07274AF2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1717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6" name="driver-3-label">
            <a:extLst xmlns:a="http://schemas.openxmlformats.org/drawingml/2006/main">
              <a:ext uri="{FF2B5EF4-FFF2-40B4-BE49-F238E27FC236}">
                <a16:creationId xmlns:a16="http://schemas.microsoft.com/office/drawing/2014/main" id="{8EF9C161-4416-4D59-A6C9-52987704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9075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 software</a:t>
            </a:r>
          </a:p>
        </p:txBody>
      </p:sp>
      <p:sp>
        <p:nvSpPr>
          <p:cNvPr id="37" name="driver-3-box">
            <a:extLst xmlns:a="http://schemas.openxmlformats.org/drawingml/2006/main">
              <a:ext uri="{FF2B5EF4-FFF2-40B4-BE49-F238E27FC236}">
                <a16:creationId xmlns:a16="http://schemas.microsoft.com/office/drawing/2014/main" id="{C8D0FFA1-4F3E-4547-AD94-38D23F13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6479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CBD"/>
            </a:solidFill>
            <a:prstDash val="solid"/>
          </a:ln>
        </p:spPr>
      </p:sp>
      <p:sp>
        <p:nvSpPr>
          <p:cNvPr id="38" name="driver-3-detail">
            <a:extLst xmlns:a="http://schemas.openxmlformats.org/drawingml/2006/main">
              <a:ext uri="{FF2B5EF4-FFF2-40B4-BE49-F238E27FC236}">
                <a16:creationId xmlns:a16="http://schemas.microsoft.com/office/drawing/2014/main" id="{FA220662-B64C-4E30-AA1C-2FB96045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19400"/>
            <a:ext cx="1504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Forecasting and optimization coordinate assets across buildings, fleets, and distribution grids.</a:t>
            </a:r>
          </a:p>
        </p:txBody>
      </p:sp>
      <p:sp>
        <p:nvSpPr>
          <p:cNvPr id="39" name="driver-3-score-track">
            <a:extLst xmlns:a="http://schemas.openxmlformats.org/drawingml/2006/main">
              <a:ext uri="{FF2B5EF4-FFF2-40B4-BE49-F238E27FC236}">
                <a16:creationId xmlns:a16="http://schemas.microsoft.com/office/drawing/2014/main" id="{6FAA3ADF-1338-451A-B1B2-8FCAE50C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4671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driver-3-score-fill">
            <a:extLst xmlns:a="http://schemas.openxmlformats.org/drawingml/2006/main">
              <a:ext uri="{FF2B5EF4-FFF2-40B4-BE49-F238E27FC236}">
                <a16:creationId xmlns:a16="http://schemas.microsoft.com/office/drawing/2014/main" id="{466F9FC8-1129-4706-A53D-0D730241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467100"/>
            <a:ext cx="112871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driver-3-score-label">
            <a:extLst xmlns:a="http://schemas.openxmlformats.org/drawingml/2006/main">
              <a:ext uri="{FF2B5EF4-FFF2-40B4-BE49-F238E27FC236}">
                <a16:creationId xmlns:a16="http://schemas.microsoft.com/office/drawing/2014/main" id="{9808C416-E36D-44D3-B463-EA6755F2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58140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readiness index</a:t>
            </a:r>
          </a:p>
        </p:txBody>
      </p:sp>
      <p:sp>
        <p:nvSpPr>
          <p:cNvPr id="42" name="driver-3-timeline-pin">
            <a:extLst xmlns:a="http://schemas.openxmlformats.org/drawingml/2006/main">
              <a:ext uri="{FF2B5EF4-FFF2-40B4-BE49-F238E27FC236}">
                <a16:creationId xmlns:a16="http://schemas.microsoft.com/office/drawing/2014/main" id="{FD6A7210-1E31-4170-9CCF-07CCEC00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76675"/>
            <a:ext cx="11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side-callout">
            <a:extLst xmlns:a="http://schemas.openxmlformats.org/drawingml/2006/main">
              <a:ext uri="{FF2B5EF4-FFF2-40B4-BE49-F238E27FC236}">
                <a16:creationId xmlns:a16="http://schemas.microsoft.com/office/drawing/2014/main" id="{D5F8DD71-1975-452C-80DF-B47FA717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62200"/>
            <a:ext cx="1619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implication-tag-box">
            <a:extLst xmlns:a="http://schemas.openxmlformats.org/drawingml/2006/main">
              <a:ext uri="{FF2B5EF4-FFF2-40B4-BE49-F238E27FC236}">
                <a16:creationId xmlns:a16="http://schemas.microsoft.com/office/drawing/2014/main" id="{4EB76D63-8BE3-4543-9F23-7B857DBC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479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C8C70"/>
            </a:solidFill>
            <a:prstDash val="solid"/>
          </a:ln>
        </p:spPr>
      </p:sp>
      <p:sp>
        <p:nvSpPr>
          <p:cNvPr id="45" name="implication-tag-label">
            <a:extLst xmlns:a="http://schemas.openxmlformats.org/drawingml/2006/main">
              <a:ext uri="{FF2B5EF4-FFF2-40B4-BE49-F238E27FC236}">
                <a16:creationId xmlns:a16="http://schemas.microsoft.com/office/drawing/2014/main" id="{9330B2BF-6117-43A2-A8DE-47824EBC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86050"/>
            <a:ext cx="95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2C8C7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2C8C70"/>
                </a:solidFill>
                <a:latin typeface="Aptos"/>
                <a:ea typeface="Aptos"/>
                <a:cs typeface="Aptos"/>
              </a:rPr>
              <a:t>IMPLICATION</a:t>
            </a:r>
          </a:p>
        </p:txBody>
      </p:sp>
      <p:sp>
        <p:nvSpPr>
          <p:cNvPr id="46" name="implication-copy">
            <a:extLst xmlns:a="http://schemas.openxmlformats.org/drawingml/2006/main">
              <a:ext uri="{FF2B5EF4-FFF2-40B4-BE49-F238E27FC236}">
                <a16:creationId xmlns:a16="http://schemas.microsoft.com/office/drawing/2014/main" id="{8099BEF3-8BA8-4588-B8B7-8662384C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48000"/>
            <a:ext cx="11620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F3F6F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F3F6FA"/>
                </a:solidFill>
                <a:latin typeface="Aptos"/>
                <a:ea typeface="Aptos"/>
                <a:cs typeface="Aptos"/>
              </a:rPr>
              <a:t>The winning design unit is no longer a device. It is the closed-loop system that senses constraints, converts power, stores optionality, and acts fast.</a:t>
            </a:r>
          </a:p>
        </p:txBody>
      </p:sp>
      <p:sp>
        <p:nvSpPr>
          <p:cNvPr id="4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9C81BAA-1296-461A-BC46-23D56F97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BDAF8DA-896A-4727-A542-300C0891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D879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D34ABB5-0C35-436F-88D3-DBDDE22C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486525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7D8796"/>
                </a:solidFill>
                <a:latin typeface="Aptos"/>
                <a:ea typeface="Aptos"/>
                <a:cs typeface="Aptos"/>
              </a:rPr>
              <a:t>Source: Strategic synthesis; ORNL PEEM; NREL ADMS</a:t>
            </a:r>
          </a:p>
        </p:txBody>
      </p:sp>
    </p:spTree>
    <p:extLst>
      <p:ext uri="{BB962C8B-B14F-4D97-AF65-F5344CB8AC3E}">
        <p14:creationId xmlns:p14="http://schemas.microsoft.com/office/powerpoint/2010/main" val="5793149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1E20663-152E-4EE0-A10B-0E9BD03E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E274D5F9-1BDD-4498-9D65-CB5203C1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BC6AC265-4711-46FE-A802-8D8EDA61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OPPORTUNITY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F61D9-88AB-428D-BBD4-C8AE50C3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28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strongest innovations sit where electrons, data, and control meet.</a:t>
            </a:r>
          </a:p>
        </p:txBody>
      </p:sp>
      <p:sp>
        <p:nvSpPr>
          <p:cNvPr id="5" name="map-frame">
            <a:extLst xmlns:a="http://schemas.openxmlformats.org/drawingml/2006/main">
              <a:ext uri="{FF2B5EF4-FFF2-40B4-BE49-F238E27FC236}">
                <a16:creationId xmlns:a16="http://schemas.microsoft.com/office/drawing/2014/main" id="{342764D7-A31A-4703-B5F7-7B0F21F3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43150"/>
            <a:ext cx="6191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D"/>
          </a:solidFill>
          <a:ln xmlns:a="http://schemas.openxmlformats.org/drawingml/2006/main" w="9525">
            <a:solidFill>
              <a:srgbClr val="D5C9BA"/>
            </a:solidFill>
            <a:prstDash val="solid"/>
          </a:ln>
        </p:spPr>
      </p:sp>
      <p:sp>
        <p:nvSpPr>
          <p:cNvPr id="6" name="x-axis">
            <a:extLst xmlns:a="http://schemas.openxmlformats.org/drawingml/2006/main">
              <a:ext uri="{FF2B5EF4-FFF2-40B4-BE49-F238E27FC236}">
                <a16:creationId xmlns:a16="http://schemas.microsoft.com/office/drawing/2014/main" id="{59EEF7EB-EC56-4537-AC5A-7ADF42CE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010150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y-axis">
            <a:extLst xmlns:a="http://schemas.openxmlformats.org/drawingml/2006/main">
              <a:ext uri="{FF2B5EF4-FFF2-40B4-BE49-F238E27FC236}">
                <a16:creationId xmlns:a16="http://schemas.microsoft.com/office/drawing/2014/main" id="{28ED82C8-2C65-4F54-AAF4-209F33CA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686050"/>
            <a:ext cx="190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F3646-5469-4BDD-B7DC-A63FDDE8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387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Innovation readiness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CB933-D1C8-42BB-82BC-F5DC8122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2890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System impact</a:t>
            </a:r>
          </a:p>
        </p:txBody>
      </p:sp>
      <p:sp>
        <p:nvSpPr>
          <p:cNvPr id="10" name="map-dot-0">
            <a:extLst xmlns:a="http://schemas.openxmlformats.org/drawingml/2006/main">
              <a:ext uri="{FF2B5EF4-FFF2-40B4-BE49-F238E27FC236}">
                <a16:creationId xmlns:a16="http://schemas.microsoft.com/office/drawing/2014/main" id="{AD6DD6CF-30D1-4262-9392-FBF1E563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3200019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map-number-0">
            <a:extLst xmlns:a="http://schemas.openxmlformats.org/drawingml/2006/main">
              <a:ext uri="{FF2B5EF4-FFF2-40B4-BE49-F238E27FC236}">
                <a16:creationId xmlns:a16="http://schemas.microsoft.com/office/drawing/2014/main" id="{6B93D53A-F2CC-4215-907B-441F26BD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2220" y="3190494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1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2F6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map-dot-1">
            <a:extLst xmlns:a="http://schemas.openxmlformats.org/drawingml/2006/main">
              <a:ext uri="{FF2B5EF4-FFF2-40B4-BE49-F238E27FC236}">
                <a16:creationId xmlns:a16="http://schemas.microsoft.com/office/drawing/2014/main" id="{898CF059-F892-414A-A491-54E625B1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860" y="3326892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map-number-1">
            <a:extLst xmlns:a="http://schemas.openxmlformats.org/drawingml/2006/main">
              <a:ext uri="{FF2B5EF4-FFF2-40B4-BE49-F238E27FC236}">
                <a16:creationId xmlns:a16="http://schemas.microsoft.com/office/drawing/2014/main" id="{5077042A-84A7-4492-9587-B2E0A9CC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3317367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1">
                <a:solidFill>
                  <a:srgbClr val="2C8C70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2C8C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map-dot-2">
            <a:extLst xmlns:a="http://schemas.openxmlformats.org/drawingml/2006/main">
              <a:ext uri="{FF2B5EF4-FFF2-40B4-BE49-F238E27FC236}">
                <a16:creationId xmlns:a16="http://schemas.microsoft.com/office/drawing/2014/main" id="{9F43B058-F030-4ECA-A1C0-8C1635DE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73146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ap-number-2">
            <a:extLst xmlns:a="http://schemas.openxmlformats.org/drawingml/2006/main">
              <a:ext uri="{FF2B5EF4-FFF2-40B4-BE49-F238E27FC236}">
                <a16:creationId xmlns:a16="http://schemas.microsoft.com/office/drawing/2014/main" id="{36AD58C3-15F8-48E7-8ED5-FE66B3E0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63621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1">
                <a:solidFill>
                  <a:srgbClr val="C16A2D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C16A2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map-dot-3">
            <a:extLst xmlns:a="http://schemas.openxmlformats.org/drawingml/2006/main">
              <a:ext uri="{FF2B5EF4-FFF2-40B4-BE49-F238E27FC236}">
                <a16:creationId xmlns:a16="http://schemas.microsoft.com/office/drawing/2014/main" id="{91B70B38-4C76-4ED8-B720-715B5CEA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245" y="345376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map-number-3">
            <a:extLst xmlns:a="http://schemas.openxmlformats.org/drawingml/2006/main">
              <a:ext uri="{FF2B5EF4-FFF2-40B4-BE49-F238E27FC236}">
                <a16:creationId xmlns:a16="http://schemas.microsoft.com/office/drawing/2014/main" id="{6339FA81-E201-45B7-BA9B-96306282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745" y="344424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1">
                <a:solidFill>
                  <a:srgbClr val="B94B4B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B94B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map-dot-4">
            <a:extLst xmlns:a="http://schemas.openxmlformats.org/drawingml/2006/main">
              <a:ext uri="{FF2B5EF4-FFF2-40B4-BE49-F238E27FC236}">
                <a16:creationId xmlns:a16="http://schemas.microsoft.com/office/drawing/2014/main" id="{87AAEB6E-E2BC-4516-A156-E63E2ACB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833" y="3707511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5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map-number-4">
            <a:extLst xmlns:a="http://schemas.openxmlformats.org/drawingml/2006/main">
              <a:ext uri="{FF2B5EF4-FFF2-40B4-BE49-F238E27FC236}">
                <a16:creationId xmlns:a16="http://schemas.microsoft.com/office/drawing/2014/main" id="{F0E60470-A678-4DD1-8D16-176429A7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333" y="3697986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1">
                <a:solidFill>
                  <a:srgbClr val="8157C7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8157C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map-dot-5">
            <a:extLst xmlns:a="http://schemas.openxmlformats.org/drawingml/2006/main">
              <a:ext uri="{FF2B5EF4-FFF2-40B4-BE49-F238E27FC236}">
                <a16:creationId xmlns:a16="http://schemas.microsoft.com/office/drawing/2014/main" id="{ACF4B111-5805-4977-A15E-3A83617D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38347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B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ap-number-5">
            <a:extLst xmlns:a="http://schemas.openxmlformats.org/drawingml/2006/main">
              <a:ext uri="{FF2B5EF4-FFF2-40B4-BE49-F238E27FC236}">
                <a16:creationId xmlns:a16="http://schemas.microsoft.com/office/drawing/2014/main" id="{0EEC86CB-75CD-4956-BBD0-BB4FB8E0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528822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1">
                <a:solidFill>
                  <a:srgbClr val="586B74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586B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2" name="legend-dot-0">
            <a:extLst xmlns:a="http://schemas.openxmlformats.org/drawingml/2006/main">
              <a:ext uri="{FF2B5EF4-FFF2-40B4-BE49-F238E27FC236}">
                <a16:creationId xmlns:a16="http://schemas.microsoft.com/office/drawing/2014/main" id="{5F9F8F4D-6040-4127-AFE3-EB6ED0D1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24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legend-label-0">
            <a:extLst xmlns:a="http://schemas.openxmlformats.org/drawingml/2006/main">
              <a:ext uri="{FF2B5EF4-FFF2-40B4-BE49-F238E27FC236}">
                <a16:creationId xmlns:a16="http://schemas.microsoft.com/office/drawing/2014/main" id="{677EE577-669E-4DF3-8979-077F030F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959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2B3038"/>
                </a:solidFill>
                <a:latin typeface="Aptos"/>
                <a:ea typeface="Aptos"/>
                <a:cs typeface="Aptos"/>
              </a:rPr>
              <a:t>01 Power electronics</a:t>
            </a:r>
          </a:p>
        </p:txBody>
      </p:sp>
      <p:sp>
        <p:nvSpPr>
          <p:cNvPr id="24" name="legend-note-0">
            <a:extLst xmlns:a="http://schemas.openxmlformats.org/drawingml/2006/main">
              <a:ext uri="{FF2B5EF4-FFF2-40B4-BE49-F238E27FC236}">
                <a16:creationId xmlns:a16="http://schemas.microsoft.com/office/drawing/2014/main" id="{B3A4283E-9690-4C5D-9CC1-07D02C17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293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49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smaller, faster converters</a:t>
            </a:r>
          </a:p>
        </p:txBody>
      </p:sp>
      <p:sp>
        <p:nvSpPr>
          <p:cNvPr id="25" name="legend-dot-1">
            <a:extLst xmlns:a="http://schemas.openxmlformats.org/drawingml/2006/main">
              <a:ext uri="{FF2B5EF4-FFF2-40B4-BE49-F238E27FC236}">
                <a16:creationId xmlns:a16="http://schemas.microsoft.com/office/drawing/2014/main" id="{01F1528D-AD46-4D5F-9ADB-FDAF6505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724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legend-label-1">
            <a:extLst xmlns:a="http://schemas.openxmlformats.org/drawingml/2006/main">
              <a:ext uri="{FF2B5EF4-FFF2-40B4-BE49-F238E27FC236}">
                <a16:creationId xmlns:a16="http://schemas.microsoft.com/office/drawing/2014/main" id="{B6339666-A152-456A-8FF7-F92AE7B7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6959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2B3038"/>
                </a:solidFill>
                <a:latin typeface="Aptos"/>
                <a:ea typeface="Aptos"/>
                <a:cs typeface="Aptos"/>
              </a:rPr>
              <a:t>02 Storage flexibility</a:t>
            </a:r>
          </a:p>
        </p:txBody>
      </p:sp>
      <p:sp>
        <p:nvSpPr>
          <p:cNvPr id="27" name="legend-note-1">
            <a:extLst xmlns:a="http://schemas.openxmlformats.org/drawingml/2006/main">
              <a:ext uri="{FF2B5EF4-FFF2-40B4-BE49-F238E27FC236}">
                <a16:creationId xmlns:a16="http://schemas.microsoft.com/office/drawing/2014/main" id="{FCD8F738-A8A5-4183-AE50-EEC4D431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8293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49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dispatchable energy buffer</a:t>
            </a:r>
          </a:p>
        </p:txBody>
      </p:sp>
      <p:sp>
        <p:nvSpPr>
          <p:cNvPr id="28" name="legend-dot-2">
            <a:extLst xmlns:a="http://schemas.openxmlformats.org/drawingml/2006/main">
              <a:ext uri="{FF2B5EF4-FFF2-40B4-BE49-F238E27FC236}">
                <a16:creationId xmlns:a16="http://schemas.microsoft.com/office/drawing/2014/main" id="{44C01285-F2C3-48B3-A35C-921E8C49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724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legend-label-2">
            <a:extLst xmlns:a="http://schemas.openxmlformats.org/drawingml/2006/main">
              <a:ext uri="{FF2B5EF4-FFF2-40B4-BE49-F238E27FC236}">
                <a16:creationId xmlns:a16="http://schemas.microsoft.com/office/drawing/2014/main" id="{AE3D975F-9AF3-482B-84E1-58E9B9E1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6959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2B3038"/>
                </a:solidFill>
                <a:latin typeface="Aptos"/>
                <a:ea typeface="Aptos"/>
                <a:cs typeface="Aptos"/>
              </a:rPr>
              <a:t>03 Grid orchestration</a:t>
            </a:r>
          </a:p>
        </p:txBody>
      </p:sp>
      <p:sp>
        <p:nvSpPr>
          <p:cNvPr id="30" name="legend-note-2">
            <a:extLst xmlns:a="http://schemas.openxmlformats.org/drawingml/2006/main">
              <a:ext uri="{FF2B5EF4-FFF2-40B4-BE49-F238E27FC236}">
                <a16:creationId xmlns:a16="http://schemas.microsoft.com/office/drawing/2014/main" id="{C5CF9E02-7E80-42AE-9431-14A5A61D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8293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49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predictive dispatch</a:t>
            </a:r>
          </a:p>
        </p:txBody>
      </p:sp>
      <p:sp>
        <p:nvSpPr>
          <p:cNvPr id="31" name="legend-dot-3">
            <a:extLst xmlns:a="http://schemas.openxmlformats.org/drawingml/2006/main">
              <a:ext uri="{FF2B5EF4-FFF2-40B4-BE49-F238E27FC236}">
                <a16:creationId xmlns:a16="http://schemas.microsoft.com/office/drawing/2014/main" id="{6B0228F4-B4C3-46F7-95E8-C98421E9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972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legend-label-3">
            <a:extLst xmlns:a="http://schemas.openxmlformats.org/drawingml/2006/main">
              <a:ext uri="{FF2B5EF4-FFF2-40B4-BE49-F238E27FC236}">
                <a16:creationId xmlns:a16="http://schemas.microsoft.com/office/drawing/2014/main" id="{94BCEE07-3BA2-4EDD-A4A1-5620448E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4360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2B3038"/>
                </a:solidFill>
                <a:latin typeface="Aptos"/>
                <a:ea typeface="Aptos"/>
                <a:cs typeface="Aptos"/>
              </a:rPr>
              <a:t>04 Industrial heat</a:t>
            </a:r>
          </a:p>
        </p:txBody>
      </p:sp>
      <p:sp>
        <p:nvSpPr>
          <p:cNvPr id="33" name="legend-note-3">
            <a:extLst xmlns:a="http://schemas.openxmlformats.org/drawingml/2006/main">
              <a:ext uri="{FF2B5EF4-FFF2-40B4-BE49-F238E27FC236}">
                <a16:creationId xmlns:a16="http://schemas.microsoft.com/office/drawing/2014/main" id="{E348A475-E071-4D53-B6F3-37E92681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7695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49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process electrification</a:t>
            </a:r>
          </a:p>
        </p:txBody>
      </p:sp>
      <p:sp>
        <p:nvSpPr>
          <p:cNvPr id="34" name="legend-dot-4">
            <a:extLst xmlns:a="http://schemas.openxmlformats.org/drawingml/2006/main">
              <a:ext uri="{FF2B5EF4-FFF2-40B4-BE49-F238E27FC236}">
                <a16:creationId xmlns:a16="http://schemas.microsoft.com/office/drawing/2014/main" id="{B86D8838-1B49-441D-B089-6F5C1DF2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972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5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legend-label-4">
            <a:extLst xmlns:a="http://schemas.openxmlformats.org/drawingml/2006/main">
              <a:ext uri="{FF2B5EF4-FFF2-40B4-BE49-F238E27FC236}">
                <a16:creationId xmlns:a16="http://schemas.microsoft.com/office/drawing/2014/main" id="{DE894F92-C7F5-4AA2-BCCE-85FB6FB3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4360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2B3038"/>
                </a:solidFill>
                <a:latin typeface="Aptos"/>
                <a:ea typeface="Aptos"/>
                <a:cs typeface="Aptos"/>
              </a:rPr>
              <a:t>05 Vehicle-to-grid</a:t>
            </a:r>
          </a:p>
        </p:txBody>
      </p:sp>
      <p:sp>
        <p:nvSpPr>
          <p:cNvPr id="36" name="legend-note-4">
            <a:extLst xmlns:a="http://schemas.openxmlformats.org/drawingml/2006/main">
              <a:ext uri="{FF2B5EF4-FFF2-40B4-BE49-F238E27FC236}">
                <a16:creationId xmlns:a16="http://schemas.microsoft.com/office/drawing/2014/main" id="{D71D67A5-2EAE-4D67-9CA4-2CA16EC5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07695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49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mobile storage pool</a:t>
            </a:r>
          </a:p>
        </p:txBody>
      </p:sp>
      <p:sp>
        <p:nvSpPr>
          <p:cNvPr id="37" name="legend-dot-5">
            <a:extLst xmlns:a="http://schemas.openxmlformats.org/drawingml/2006/main">
              <a:ext uri="{FF2B5EF4-FFF2-40B4-BE49-F238E27FC236}">
                <a16:creationId xmlns:a16="http://schemas.microsoft.com/office/drawing/2014/main" id="{88A6E063-046B-4B22-910E-393C4AB7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972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B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legend-label-5">
            <a:extLst xmlns:a="http://schemas.openxmlformats.org/drawingml/2006/main">
              <a:ext uri="{FF2B5EF4-FFF2-40B4-BE49-F238E27FC236}">
                <a16:creationId xmlns:a16="http://schemas.microsoft.com/office/drawing/2014/main" id="{335D5F86-9CDC-4F04-B701-B4A3B814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94360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2B3038"/>
                </a:solidFill>
                <a:latin typeface="Aptos"/>
                <a:ea typeface="Aptos"/>
                <a:cs typeface="Aptos"/>
              </a:rPr>
              <a:t>06 Long-duration storage</a:t>
            </a:r>
          </a:p>
        </p:txBody>
      </p:sp>
      <p:sp>
        <p:nvSpPr>
          <p:cNvPr id="39" name="legend-note-5">
            <a:extLst xmlns:a="http://schemas.openxmlformats.org/drawingml/2006/main">
              <a:ext uri="{FF2B5EF4-FFF2-40B4-BE49-F238E27FC236}">
                <a16:creationId xmlns:a16="http://schemas.microsoft.com/office/drawing/2014/main" id="{24C7639B-6BA0-48EE-91E9-1E91D04B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07695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49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resilience bridge</a:t>
            </a:r>
          </a:p>
        </p:txBody>
      </p:sp>
      <p:sp>
        <p:nvSpPr>
          <p:cNvPr id="40" name="priority-panel">
            <a:extLst xmlns:a="http://schemas.openxmlformats.org/drawingml/2006/main">
              <a:ext uri="{FF2B5EF4-FFF2-40B4-BE49-F238E27FC236}">
                <a16:creationId xmlns:a16="http://schemas.microsoft.com/office/drawing/2014/main" id="{3D5E2C9F-C6A5-46D0-ADBD-32824E0D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14550"/>
            <a:ext cx="3000375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riority-tag-box">
            <a:extLst xmlns:a="http://schemas.openxmlformats.org/drawingml/2006/main">
              <a:ext uri="{FF2B5EF4-FFF2-40B4-BE49-F238E27FC236}">
                <a16:creationId xmlns:a16="http://schemas.microsoft.com/office/drawing/2014/main" id="{021A9553-0CB6-4CFC-9BA6-F8C8F843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42" name="priority-tag-label">
            <a:extLst xmlns:a="http://schemas.openxmlformats.org/drawingml/2006/main">
              <a:ext uri="{FF2B5EF4-FFF2-40B4-BE49-F238E27FC236}">
                <a16:creationId xmlns:a16="http://schemas.microsoft.com/office/drawing/2014/main" id="{0CE038C0-F4B4-4D52-B829-C9E88937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38400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2F6BFF"/>
                </a:solidFill>
                <a:latin typeface="Aptos"/>
                <a:ea typeface="Aptos"/>
                <a:cs typeface="Aptos"/>
              </a:rPr>
              <a:t>PRIORITY LOGIC</a:t>
            </a:r>
          </a:p>
        </p:txBody>
      </p:sp>
      <p:sp>
        <p:nvSpPr>
          <p:cNvPr id="43" name="priority-0-accent">
            <a:extLst xmlns:a="http://schemas.openxmlformats.org/drawingml/2006/main">
              <a:ext uri="{FF2B5EF4-FFF2-40B4-BE49-F238E27FC236}">
                <a16:creationId xmlns:a16="http://schemas.microsoft.com/office/drawing/2014/main" id="{490BD598-6BAE-45FB-AA00-1879B146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146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priority-0-label">
            <a:extLst xmlns:a="http://schemas.openxmlformats.org/drawingml/2006/main">
              <a:ext uri="{FF2B5EF4-FFF2-40B4-BE49-F238E27FC236}">
                <a16:creationId xmlns:a16="http://schemas.microsoft.com/office/drawing/2014/main" id="{A8B08C2A-E744-45BA-AF4C-021894CF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Near-term scale</a:t>
            </a:r>
          </a:p>
        </p:txBody>
      </p:sp>
      <p:sp>
        <p:nvSpPr>
          <p:cNvPr id="45" name="priority-0-note">
            <a:extLst xmlns:a="http://schemas.openxmlformats.org/drawingml/2006/main">
              <a:ext uri="{FF2B5EF4-FFF2-40B4-BE49-F238E27FC236}">
                <a16:creationId xmlns:a16="http://schemas.microsoft.com/office/drawing/2014/main" id="{8C9D60F7-F6A0-4B33-B98E-2BB990E7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9D1D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9D1DD"/>
                </a:solidFill>
                <a:latin typeface="Aptos"/>
                <a:ea typeface="Aptos"/>
                <a:cs typeface="Aptos"/>
              </a:rPr>
              <a:t>Power electronics and storage are ready enough to change product economics now.</a:t>
            </a:r>
          </a:p>
        </p:txBody>
      </p:sp>
      <p:sp>
        <p:nvSpPr>
          <p:cNvPr id="46" name="priority-1-accent">
            <a:extLst xmlns:a="http://schemas.openxmlformats.org/drawingml/2006/main">
              <a:ext uri="{FF2B5EF4-FFF2-40B4-BE49-F238E27FC236}">
                <a16:creationId xmlns:a16="http://schemas.microsoft.com/office/drawing/2014/main" id="{A60B97AF-2919-4E5D-BBEA-E75DD9F3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priority-1-label">
            <a:extLst xmlns:a="http://schemas.openxmlformats.org/drawingml/2006/main">
              <a:ext uri="{FF2B5EF4-FFF2-40B4-BE49-F238E27FC236}">
                <a16:creationId xmlns:a16="http://schemas.microsoft.com/office/drawing/2014/main" id="{CCE1B6AD-0C55-49F4-932C-4E829FA7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Grid dependency</a:t>
            </a:r>
          </a:p>
        </p:txBody>
      </p:sp>
      <p:sp>
        <p:nvSpPr>
          <p:cNvPr id="48" name="priority-1-note">
            <a:extLst xmlns:a="http://schemas.openxmlformats.org/drawingml/2006/main">
              <a:ext uri="{FF2B5EF4-FFF2-40B4-BE49-F238E27FC236}">
                <a16:creationId xmlns:a16="http://schemas.microsoft.com/office/drawing/2014/main" id="{DC5BEF7F-85D8-4244-8C8A-2A3D08BD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671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9D1D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9D1DD"/>
                </a:solidFill>
                <a:latin typeface="Aptos"/>
                <a:ea typeface="Aptos"/>
                <a:cs typeface="Aptos"/>
              </a:rPr>
              <a:t>Orchestration becomes the unlock as distributed assets multiply.</a:t>
            </a:r>
          </a:p>
        </p:txBody>
      </p:sp>
      <p:sp>
        <p:nvSpPr>
          <p:cNvPr id="49" name="priority-2-accent">
            <a:extLst xmlns:a="http://schemas.openxmlformats.org/drawingml/2006/main">
              <a:ext uri="{FF2B5EF4-FFF2-40B4-BE49-F238E27FC236}">
                <a16:creationId xmlns:a16="http://schemas.microsoft.com/office/drawing/2014/main" id="{8C067D6A-CCF5-459D-9F0B-66492A70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6245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priority-2-label">
            <a:extLst xmlns:a="http://schemas.openxmlformats.org/drawingml/2006/main">
              <a:ext uri="{FF2B5EF4-FFF2-40B4-BE49-F238E27FC236}">
                <a16:creationId xmlns:a16="http://schemas.microsoft.com/office/drawing/2014/main" id="{08A0A521-133E-49F2-B31A-E09C6866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Watch zone</a:t>
            </a:r>
          </a:p>
        </p:txBody>
      </p:sp>
      <p:sp>
        <p:nvSpPr>
          <p:cNvPr id="51" name="priority-2-note">
            <a:extLst xmlns:a="http://schemas.openxmlformats.org/drawingml/2006/main">
              <a:ext uri="{FF2B5EF4-FFF2-40B4-BE49-F238E27FC236}">
                <a16:creationId xmlns:a16="http://schemas.microsoft.com/office/drawing/2014/main" id="{A649882E-84A2-4848-AF59-54132EED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910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9D1DD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9D1DD"/>
                </a:solidFill>
                <a:latin typeface="Aptos"/>
                <a:ea typeface="Aptos"/>
                <a:cs typeface="Aptos"/>
              </a:rPr>
              <a:t>Long-duration storage and V2G need interoperability, markets, and operating rules.</a:t>
            </a:r>
          </a:p>
        </p:txBody>
      </p:sp>
      <p:sp>
        <p:nvSpPr>
          <p:cNvPr id="5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55FB6E6-3237-4C6A-B90C-742B2338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BACDDD8-E6DE-4898-B3C8-9FFD22AC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D879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C88D163-AE27-42FF-B645-E361A243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486525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7D8796"/>
                </a:solidFill>
                <a:latin typeface="Aptos"/>
                <a:ea typeface="Aptos"/>
                <a:cs typeface="Aptos"/>
              </a:rPr>
              <a:t>Source: ORNL PEEM; strategic synthesis</a:t>
            </a:r>
          </a:p>
        </p:txBody>
      </p:sp>
    </p:spTree>
    <p:extLst>
      <p:ext uri="{BB962C8B-B14F-4D97-AF65-F5344CB8AC3E}">
        <p14:creationId xmlns:p14="http://schemas.microsoft.com/office/powerpoint/2010/main" val="1454001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F39DB96-179C-4A86-8282-321E636B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2A33DEE5-6EEA-4AC1-88B5-AB76E47F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CB9C3CCB-212A-45B8-8327-9A5C5C24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70412-6589-467D-8C0E-FA3CE723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38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Adaptive electrical systems close the loop between physical power and digital intent.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2B231-940E-40F8-B6BC-05DB21A3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core innovation is not one asset. It is the control loop that observes the grid edge, forecasts constraints, and dispatches flexible capacity before the system drifts.</a:t>
            </a:r>
          </a:p>
        </p:txBody>
      </p:sp>
      <p:sp>
        <p:nvSpPr>
          <p:cNvPr id="6" name="arch-node-0-box">
            <a:extLst xmlns:a="http://schemas.openxmlformats.org/drawingml/2006/main">
              <a:ext uri="{FF2B5EF4-FFF2-40B4-BE49-F238E27FC236}">
                <a16:creationId xmlns:a16="http://schemas.microsoft.com/office/drawing/2014/main" id="{35F6D9C4-1073-4666-9D4F-000C59A5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DBF"/>
            </a:solidFill>
            <a:prstDash val="solid"/>
          </a:ln>
        </p:spPr>
      </p:sp>
      <p:sp>
        <p:nvSpPr>
          <p:cNvPr id="7" name="arch-node-0-accent">
            <a:extLst xmlns:a="http://schemas.openxmlformats.org/drawingml/2006/main">
              <a:ext uri="{FF2B5EF4-FFF2-40B4-BE49-F238E27FC236}">
                <a16:creationId xmlns:a16="http://schemas.microsoft.com/office/drawing/2014/main" id="{09962260-7BB9-42DE-A235-84C177E4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arch-node-0-label">
            <a:extLst xmlns:a="http://schemas.openxmlformats.org/drawingml/2006/main">
              <a:ext uri="{FF2B5EF4-FFF2-40B4-BE49-F238E27FC236}">
                <a16:creationId xmlns:a16="http://schemas.microsoft.com/office/drawing/2014/main" id="{2C33A4CC-B9C4-4B75-B1E3-87A65950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Physical assets</a:t>
            </a:r>
          </a:p>
        </p:txBody>
      </p:sp>
      <p:sp>
        <p:nvSpPr>
          <p:cNvPr id="9" name="arch-node-0-detail">
            <a:extLst xmlns:a="http://schemas.openxmlformats.org/drawingml/2006/main">
              <a:ext uri="{FF2B5EF4-FFF2-40B4-BE49-F238E27FC236}">
                <a16:creationId xmlns:a16="http://schemas.microsoft.com/office/drawing/2014/main" id="{34B5D514-7F17-4150-B74B-0A507BA5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73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generation, feeders, loads, motors, chargers</a:t>
            </a:r>
          </a:p>
        </p:txBody>
      </p:sp>
      <p:sp>
        <p:nvSpPr>
          <p:cNvPr id="10" name="arch-node-1-box">
            <a:extLst xmlns:a="http://schemas.openxmlformats.org/drawingml/2006/main">
              <a:ext uri="{FF2B5EF4-FFF2-40B4-BE49-F238E27FC236}">
                <a16:creationId xmlns:a16="http://schemas.microsoft.com/office/drawing/2014/main" id="{17DDD3F9-FC5D-412E-BABD-CC4C7064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241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DBF"/>
            </a:solidFill>
            <a:prstDash val="solid"/>
          </a:ln>
        </p:spPr>
      </p:sp>
      <p:sp>
        <p:nvSpPr>
          <p:cNvPr id="11" name="arch-node-1-accent">
            <a:extLst xmlns:a="http://schemas.openxmlformats.org/drawingml/2006/main">
              <a:ext uri="{FF2B5EF4-FFF2-40B4-BE49-F238E27FC236}">
                <a16:creationId xmlns:a16="http://schemas.microsoft.com/office/drawing/2014/main" id="{87053FE9-BFE7-47CF-BC19-D5D58203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241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arch-node-1-label">
            <a:extLst xmlns:a="http://schemas.openxmlformats.org/drawingml/2006/main">
              <a:ext uri="{FF2B5EF4-FFF2-40B4-BE49-F238E27FC236}">
                <a16:creationId xmlns:a16="http://schemas.microsoft.com/office/drawing/2014/main" id="{A3BA9123-0CB8-4A27-B44A-A24E2BAE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Power electronics</a:t>
            </a:r>
          </a:p>
        </p:txBody>
      </p:sp>
      <p:sp>
        <p:nvSpPr>
          <p:cNvPr id="13" name="arch-node-1-detail">
            <a:extLst xmlns:a="http://schemas.openxmlformats.org/drawingml/2006/main">
              <a:ext uri="{FF2B5EF4-FFF2-40B4-BE49-F238E27FC236}">
                <a16:creationId xmlns:a16="http://schemas.microsoft.com/office/drawing/2014/main" id="{2D032B7A-9B2C-49B2-8E78-D768744D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inverters, converters, drives, protection</a:t>
            </a:r>
          </a:p>
        </p:txBody>
      </p:sp>
      <p:sp>
        <p:nvSpPr>
          <p:cNvPr id="14" name="arch-node-2-box">
            <a:extLst xmlns:a="http://schemas.openxmlformats.org/drawingml/2006/main">
              <a:ext uri="{FF2B5EF4-FFF2-40B4-BE49-F238E27FC236}">
                <a16:creationId xmlns:a16="http://schemas.microsoft.com/office/drawing/2014/main" id="{9CB0187D-F1B9-4EE8-83F1-D90765F6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DBF"/>
            </a:solidFill>
            <a:prstDash val="solid"/>
          </a:ln>
        </p:spPr>
      </p:sp>
      <p:sp>
        <p:nvSpPr>
          <p:cNvPr id="15" name="arch-node-2-accent">
            <a:extLst xmlns:a="http://schemas.openxmlformats.org/drawingml/2006/main">
              <a:ext uri="{FF2B5EF4-FFF2-40B4-BE49-F238E27FC236}">
                <a16:creationId xmlns:a16="http://schemas.microsoft.com/office/drawing/2014/main" id="{5F118942-CDD2-49F5-8EBF-33CE1817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arch-node-2-label">
            <a:extLst xmlns:a="http://schemas.openxmlformats.org/drawingml/2006/main">
              <a:ext uri="{FF2B5EF4-FFF2-40B4-BE49-F238E27FC236}">
                <a16:creationId xmlns:a16="http://schemas.microsoft.com/office/drawing/2014/main" id="{3AA02DA1-9FDB-48E3-8EB5-534ABC66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Edge sensing</a:t>
            </a:r>
          </a:p>
        </p:txBody>
      </p:sp>
      <p:sp>
        <p:nvSpPr>
          <p:cNvPr id="17" name="arch-node-2-detail">
            <a:extLst xmlns:a="http://schemas.openxmlformats.org/drawingml/2006/main">
              <a:ext uri="{FF2B5EF4-FFF2-40B4-BE49-F238E27FC236}">
                <a16:creationId xmlns:a16="http://schemas.microsoft.com/office/drawing/2014/main" id="{02738ADF-AB1D-43EA-88F5-2084C2F0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meters, phasors, thermal monitors, controllers</a:t>
            </a:r>
          </a:p>
        </p:txBody>
      </p:sp>
      <p:sp>
        <p:nvSpPr>
          <p:cNvPr id="18" name="arch-node-3-box">
            <a:extLst xmlns:a="http://schemas.openxmlformats.org/drawingml/2006/main">
              <a:ext uri="{FF2B5EF4-FFF2-40B4-BE49-F238E27FC236}">
                <a16:creationId xmlns:a16="http://schemas.microsoft.com/office/drawing/2014/main" id="{2AB51071-E6C2-40A0-BDF9-21A553E4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DBF"/>
            </a:solidFill>
            <a:prstDash val="solid"/>
          </a:ln>
        </p:spPr>
      </p:sp>
      <p:sp>
        <p:nvSpPr>
          <p:cNvPr id="19" name="arch-node-3-accent">
            <a:extLst xmlns:a="http://schemas.openxmlformats.org/drawingml/2006/main">
              <a:ext uri="{FF2B5EF4-FFF2-40B4-BE49-F238E27FC236}">
                <a16:creationId xmlns:a16="http://schemas.microsoft.com/office/drawing/2014/main" id="{9EDD91DF-ED4F-4C17-AC9F-D65D2112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arch-node-3-label">
            <a:extLst xmlns:a="http://schemas.openxmlformats.org/drawingml/2006/main">
              <a:ext uri="{FF2B5EF4-FFF2-40B4-BE49-F238E27FC236}">
                <a16:creationId xmlns:a16="http://schemas.microsoft.com/office/drawing/2014/main" id="{CACB0748-0ED6-4CA1-BC5A-2D46DE7E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146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Control plane</a:t>
            </a:r>
          </a:p>
        </p:txBody>
      </p:sp>
      <p:sp>
        <p:nvSpPr>
          <p:cNvPr id="21" name="arch-node-3-detail">
            <a:extLst xmlns:a="http://schemas.openxmlformats.org/drawingml/2006/main">
              <a:ext uri="{FF2B5EF4-FFF2-40B4-BE49-F238E27FC236}">
                <a16:creationId xmlns:a16="http://schemas.microsoft.com/office/drawing/2014/main" id="{70802B23-5F19-4C6C-ABE9-505D9A1D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forecasting, optimization, DERMS / ADMS logic</a:t>
            </a:r>
          </a:p>
        </p:txBody>
      </p:sp>
      <p:sp>
        <p:nvSpPr>
          <p:cNvPr id="22" name="arch-node-4-box">
            <a:extLst xmlns:a="http://schemas.openxmlformats.org/drawingml/2006/main">
              <a:ext uri="{FF2B5EF4-FFF2-40B4-BE49-F238E27FC236}">
                <a16:creationId xmlns:a16="http://schemas.microsoft.com/office/drawing/2014/main" id="{BE7EE623-6A75-4992-ADF9-6DF1ADE7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DBF"/>
            </a:solidFill>
            <a:prstDash val="solid"/>
          </a:ln>
        </p:spPr>
      </p:sp>
      <p:sp>
        <p:nvSpPr>
          <p:cNvPr id="23" name="arch-node-4-accent">
            <a:extLst xmlns:a="http://schemas.openxmlformats.org/drawingml/2006/main">
              <a:ext uri="{FF2B5EF4-FFF2-40B4-BE49-F238E27FC236}">
                <a16:creationId xmlns:a16="http://schemas.microsoft.com/office/drawing/2014/main" id="{BB95CA40-1CD1-4C16-A3EA-82A2429F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arch-node-4-label">
            <a:extLst xmlns:a="http://schemas.openxmlformats.org/drawingml/2006/main">
              <a:ext uri="{FF2B5EF4-FFF2-40B4-BE49-F238E27FC236}">
                <a16:creationId xmlns:a16="http://schemas.microsoft.com/office/drawing/2014/main" id="{106396E2-5E2B-49F1-BC14-53620E17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577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Flexible response</a:t>
            </a:r>
          </a:p>
        </p:txBody>
      </p:sp>
      <p:sp>
        <p:nvSpPr>
          <p:cNvPr id="25" name="arch-node-4-detail">
            <a:extLst xmlns:a="http://schemas.openxmlformats.org/drawingml/2006/main">
              <a:ext uri="{FF2B5EF4-FFF2-40B4-BE49-F238E27FC236}">
                <a16:creationId xmlns:a16="http://schemas.microsoft.com/office/drawing/2014/main" id="{CB30E1D4-64E9-4387-AE3D-81E175DC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2440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storage dispatch, demand shift, V2G, microgrids</a:t>
            </a:r>
          </a:p>
        </p:txBody>
      </p:sp>
      <p:sp>
        <p:nvSpPr>
          <p:cNvPr id="26" name="arch-node-5-box">
            <a:extLst xmlns:a="http://schemas.openxmlformats.org/drawingml/2006/main">
              <a:ext uri="{FF2B5EF4-FFF2-40B4-BE49-F238E27FC236}">
                <a16:creationId xmlns:a16="http://schemas.microsoft.com/office/drawing/2014/main" id="{6668162D-F377-4B7D-A5FE-444B3BBB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243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DBF"/>
            </a:solidFill>
            <a:prstDash val="solid"/>
          </a:ln>
        </p:spPr>
      </p:sp>
      <p:sp>
        <p:nvSpPr>
          <p:cNvPr id="27" name="arch-node-5-accent">
            <a:extLst xmlns:a="http://schemas.openxmlformats.org/drawingml/2006/main">
              <a:ext uri="{FF2B5EF4-FFF2-40B4-BE49-F238E27FC236}">
                <a16:creationId xmlns:a16="http://schemas.microsoft.com/office/drawing/2014/main" id="{2DD5563F-516F-442B-8143-D2020461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243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arch-node-5-label">
            <a:extLst xmlns:a="http://schemas.openxmlformats.org/drawingml/2006/main">
              <a:ext uri="{FF2B5EF4-FFF2-40B4-BE49-F238E27FC236}">
                <a16:creationId xmlns:a16="http://schemas.microsoft.com/office/drawing/2014/main" id="{34FDAF10-CA77-4A71-A9EA-F3BCEE63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Market / operator intent</a:t>
            </a:r>
          </a:p>
        </p:txBody>
      </p:sp>
      <p:sp>
        <p:nvSpPr>
          <p:cNvPr id="29" name="arch-node-5-detail">
            <a:extLst xmlns:a="http://schemas.openxmlformats.org/drawingml/2006/main">
              <a:ext uri="{FF2B5EF4-FFF2-40B4-BE49-F238E27FC236}">
                <a16:creationId xmlns:a16="http://schemas.microsoft.com/office/drawing/2014/main" id="{A4D69716-5CCE-47AB-9B65-ED3CEE60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24400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prices, reliability rules, carbon limits, resilience</a:t>
            </a:r>
          </a:p>
        </p:txBody>
      </p:sp>
      <p:sp>
        <p:nvSpPr>
          <p:cNvPr id="30" name="arch-link-0">
            <a:extLst xmlns:a="http://schemas.openxmlformats.org/drawingml/2006/main">
              <a:ext uri="{FF2B5EF4-FFF2-40B4-BE49-F238E27FC236}">
                <a16:creationId xmlns:a16="http://schemas.microsoft.com/office/drawing/2014/main" id="{22780E63-37A4-4777-BAD6-E74081BF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813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arch-link-1">
            <a:extLst xmlns:a="http://schemas.openxmlformats.org/drawingml/2006/main">
              <a:ext uri="{FF2B5EF4-FFF2-40B4-BE49-F238E27FC236}">
                <a16:creationId xmlns:a16="http://schemas.microsoft.com/office/drawing/2014/main" id="{963CFFC0-34D7-4B03-86D9-2D53DC74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241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arch-link-2">
            <a:extLst xmlns:a="http://schemas.openxmlformats.org/drawingml/2006/main">
              <a:ext uri="{FF2B5EF4-FFF2-40B4-BE49-F238E27FC236}">
                <a16:creationId xmlns:a16="http://schemas.microsoft.com/office/drawing/2014/main" id="{8BD1D198-6536-4A99-B2BA-E6563753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arch-link-3">
            <a:extLst xmlns:a="http://schemas.openxmlformats.org/drawingml/2006/main">
              <a:ext uri="{FF2B5EF4-FFF2-40B4-BE49-F238E27FC236}">
                <a16:creationId xmlns:a16="http://schemas.microsoft.com/office/drawing/2014/main" id="{198052AE-C828-4B6D-AD51-286EF9C4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576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arch-link-4">
            <a:extLst xmlns:a="http://schemas.openxmlformats.org/drawingml/2006/main">
              <a:ext uri="{FF2B5EF4-FFF2-40B4-BE49-F238E27FC236}">
                <a16:creationId xmlns:a16="http://schemas.microsoft.com/office/drawing/2014/main" id="{50208C1A-D152-4C00-9419-63DDB592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244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arch-link-5">
            <a:extLst xmlns:a="http://schemas.openxmlformats.org/drawingml/2006/main">
              <a:ext uri="{FF2B5EF4-FFF2-40B4-BE49-F238E27FC236}">
                <a16:creationId xmlns:a16="http://schemas.microsoft.com/office/drawing/2014/main" id="{04936D66-AF6B-4881-AE50-580152F4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7244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arch-link-6">
            <a:extLst xmlns:a="http://schemas.openxmlformats.org/drawingml/2006/main">
              <a:ext uri="{FF2B5EF4-FFF2-40B4-BE49-F238E27FC236}">
                <a16:creationId xmlns:a16="http://schemas.microsoft.com/office/drawing/2014/main" id="{7C3DECC5-1637-4FB3-9D94-DE189D1A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576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center-loop">
            <a:extLst xmlns:a="http://schemas.openxmlformats.org/drawingml/2006/main">
              <a:ext uri="{FF2B5EF4-FFF2-40B4-BE49-F238E27FC236}">
                <a16:creationId xmlns:a16="http://schemas.microsoft.com/office/drawing/2014/main" id="{D831BB81-72F5-4290-96AB-8409D3CC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718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center-loop-label">
            <a:extLst xmlns:a="http://schemas.openxmlformats.org/drawingml/2006/main">
              <a:ext uri="{FF2B5EF4-FFF2-40B4-BE49-F238E27FC236}">
                <a16:creationId xmlns:a16="http://schemas.microsoft.com/office/drawing/2014/main" id="{AC3E7CC0-0C56-4D1F-BB3B-2378A6F8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33775"/>
            <a:ext cx="1085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closed-loop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coordination</a:t>
            </a:r>
          </a:p>
        </p:txBody>
      </p:sp>
      <p:sp>
        <p:nvSpPr>
          <p:cNvPr id="39" name="slide-bottom-rule">
            <a:extLst xmlns:a="http://schemas.openxmlformats.org/drawingml/2006/main">
              <a:ext uri="{FF2B5EF4-FFF2-40B4-BE49-F238E27FC236}">
                <a16:creationId xmlns:a16="http://schemas.microsoft.com/office/drawing/2014/main" id="{19B0F269-2873-476B-BC54-1BFD9726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9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73CFF5-0373-46C0-8221-EF3759C5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Technical gate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F12E6E-62C5-4BD3-BB9A-BE185772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 useful architecture must show where data becomes action: sensing is not valuable until it changes dispatch, protection, or operating limits.</a:t>
            </a:r>
          </a:p>
        </p:txBody>
      </p:sp>
      <p:sp>
        <p:nvSpPr>
          <p:cNvPr id="4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C94D1A-E9EF-4B3C-88CA-0B850ACA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9FB6FDB-D327-4B40-8ABD-BB66361D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D879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39DE23E-CDF4-4E62-9456-1D674004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486525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7D8796"/>
                </a:solidFill>
                <a:latin typeface="Aptos"/>
                <a:ea typeface="Aptos"/>
                <a:cs typeface="Aptos"/>
              </a:rPr>
              <a:t>Source: NREL ADMS research</a:t>
            </a:r>
          </a:p>
        </p:txBody>
      </p:sp>
    </p:spTree>
    <p:extLst>
      <p:ext uri="{BB962C8B-B14F-4D97-AF65-F5344CB8AC3E}">
        <p14:creationId xmlns:p14="http://schemas.microsoft.com/office/powerpoint/2010/main" val="18750030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16A35CA-D716-4430-A58D-4A10C6BD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CE00EE96-4EB9-41BF-B4E2-C9CC8D82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E72A26B7-C5CB-44AD-B184-C0271131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POWER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9B6D7-2264-4FD6-882C-0FF3DE6E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Wide-bandgap semiconductors turn efficiency into design freedom.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D1D7A-313E-430D-A23B-314F0360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Silicon carbide and gallium nitride matter because their electrical behavior reshapes the converter, thermal, packaging, and control envelope around the product.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AE4FF-711D-4870-8F2E-0B095EA7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241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Switching efficiency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85896-3D7F-45D2-8C2B-3736DD58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241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Thermal headroom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A453E-E802-4BDE-BF95-B3ACAF55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Power density</a:t>
            </a:r>
          </a:p>
        </p:txBody>
      </p:sp>
      <p:sp>
        <p:nvSpPr>
          <p:cNvPr id="9" name="semiconductor-row-0">
            <a:extLst xmlns:a="http://schemas.openxmlformats.org/drawingml/2006/main">
              <a:ext uri="{FF2B5EF4-FFF2-40B4-BE49-F238E27FC236}">
                <a16:creationId xmlns:a16="http://schemas.microsoft.com/office/drawing/2014/main" id="{29126B58-C5C5-4FBE-8C50-60A94916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C"/>
          </a:solidFill>
          <a:ln xmlns:a="http://schemas.openxmlformats.org/drawingml/2006/main" w="9525">
            <a:solidFill>
              <a:srgbClr val="D7CB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3AAD4-B42E-436D-B34D-39F1968D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Silicon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0FAA0-D6A3-46AE-B19D-E0B80DD2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5752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mature baseline</a:t>
            </a:r>
          </a:p>
        </p:txBody>
      </p:sp>
      <p:sp>
        <p:nvSpPr>
          <p:cNvPr id="12" name="semiconductor-0-0-track">
            <a:extLst xmlns:a="http://schemas.openxmlformats.org/drawingml/2006/main">
              <a:ext uri="{FF2B5EF4-FFF2-40B4-BE49-F238E27FC236}">
                <a16:creationId xmlns:a16="http://schemas.microsoft.com/office/drawing/2014/main" id="{70DF6269-E249-4461-84F6-4CAA72C3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194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emiconductor-0-0-fill">
            <a:extLst xmlns:a="http://schemas.openxmlformats.org/drawingml/2006/main">
              <a:ext uri="{FF2B5EF4-FFF2-40B4-BE49-F238E27FC236}">
                <a16:creationId xmlns:a16="http://schemas.microsoft.com/office/drawing/2014/main" id="{F18EBF96-2A05-4D41-AB9B-3CDC0F30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19400"/>
            <a:ext cx="885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FB318-0CD7-4D2E-9A30-720EF723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717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  <p:sp>
        <p:nvSpPr>
          <p:cNvPr id="15" name="semiconductor-0-1-track">
            <a:extLst xmlns:a="http://schemas.openxmlformats.org/drawingml/2006/main">
              <a:ext uri="{FF2B5EF4-FFF2-40B4-BE49-F238E27FC236}">
                <a16:creationId xmlns:a16="http://schemas.microsoft.com/office/drawing/2014/main" id="{61D25EDB-29F8-4DF5-AF36-5E5D07F8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194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emiconductor-0-1-fill">
            <a:extLst xmlns:a="http://schemas.openxmlformats.org/drawingml/2006/main">
              <a:ext uri="{FF2B5EF4-FFF2-40B4-BE49-F238E27FC236}">
                <a16:creationId xmlns:a16="http://schemas.microsoft.com/office/drawing/2014/main" id="{06FD0474-F151-41CE-A571-6447107B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194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E6E3C-0160-45C4-8EA7-EF23F36D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717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18" name="semiconductor-0-2-track">
            <a:extLst xmlns:a="http://schemas.openxmlformats.org/drawingml/2006/main">
              <a:ext uri="{FF2B5EF4-FFF2-40B4-BE49-F238E27FC236}">
                <a16:creationId xmlns:a16="http://schemas.microsoft.com/office/drawing/2014/main" id="{1635768F-4990-4B30-BCEA-943CDB05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194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emiconductor-0-2-fill">
            <a:extLst xmlns:a="http://schemas.openxmlformats.org/drawingml/2006/main">
              <a:ext uri="{FF2B5EF4-FFF2-40B4-BE49-F238E27FC236}">
                <a16:creationId xmlns:a16="http://schemas.microsoft.com/office/drawing/2014/main" id="{54532255-0C38-4693-96C4-7F4E9F18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1940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3E12D1-3272-4A57-ACD0-B0CD5E32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717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21" name="semiconductor-row-1">
            <a:extLst xmlns:a="http://schemas.openxmlformats.org/drawingml/2006/main">
              <a:ext uri="{FF2B5EF4-FFF2-40B4-BE49-F238E27FC236}">
                <a16:creationId xmlns:a16="http://schemas.microsoft.com/office/drawing/2014/main" id="{F59E8B2E-E92F-4767-B991-99868F38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7CB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1A8D46-A63F-4989-BC92-895C1BB2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342DF-CC56-4D39-BE46-8FC26C47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4812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high voltage and temperature</a:t>
            </a:r>
          </a:p>
        </p:txBody>
      </p:sp>
      <p:sp>
        <p:nvSpPr>
          <p:cNvPr id="24" name="semiconductor-1-0-track">
            <a:extLst xmlns:a="http://schemas.openxmlformats.org/drawingml/2006/main">
              <a:ext uri="{FF2B5EF4-FFF2-40B4-BE49-F238E27FC236}">
                <a16:creationId xmlns:a16="http://schemas.microsoft.com/office/drawing/2014/main" id="{24E37A3D-1F7A-4A97-9EB8-90C08759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100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emiconductor-1-0-fill">
            <a:extLst xmlns:a="http://schemas.openxmlformats.org/drawingml/2006/main">
              <a:ext uri="{FF2B5EF4-FFF2-40B4-BE49-F238E27FC236}">
                <a16:creationId xmlns:a16="http://schemas.microsoft.com/office/drawing/2014/main" id="{122328EE-7DE6-484E-8026-0336F5D7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100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D37BB-F291-4E87-815F-098389B3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623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84</a:t>
            </a:r>
          </a:p>
        </p:txBody>
      </p:sp>
      <p:sp>
        <p:nvSpPr>
          <p:cNvPr id="27" name="semiconductor-1-1-track">
            <a:extLst xmlns:a="http://schemas.openxmlformats.org/drawingml/2006/main">
              <a:ext uri="{FF2B5EF4-FFF2-40B4-BE49-F238E27FC236}">
                <a16:creationId xmlns:a16="http://schemas.microsoft.com/office/drawing/2014/main" id="{12BE4A4A-B756-40C9-BC3C-CDB61EFD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100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emiconductor-1-1-fill">
            <a:extLst xmlns:a="http://schemas.openxmlformats.org/drawingml/2006/main">
              <a:ext uri="{FF2B5EF4-FFF2-40B4-BE49-F238E27FC236}">
                <a16:creationId xmlns:a16="http://schemas.microsoft.com/office/drawing/2014/main" id="{C79ABAC4-2B40-4EA9-AB51-E6BB8A12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10000"/>
            <a:ext cx="12287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A687F4-0399-4B1C-B8E3-8DD47CFB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623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86</a:t>
            </a:r>
          </a:p>
        </p:txBody>
      </p:sp>
      <p:sp>
        <p:nvSpPr>
          <p:cNvPr id="30" name="semiconductor-1-2-track">
            <a:extLst xmlns:a="http://schemas.openxmlformats.org/drawingml/2006/main">
              <a:ext uri="{FF2B5EF4-FFF2-40B4-BE49-F238E27FC236}">
                <a16:creationId xmlns:a16="http://schemas.microsoft.com/office/drawing/2014/main" id="{65CFCEA6-C3DA-453F-94B3-E0818900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00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emiconductor-1-2-fill">
            <a:extLst xmlns:a="http://schemas.openxmlformats.org/drawingml/2006/main">
              <a:ext uri="{FF2B5EF4-FFF2-40B4-BE49-F238E27FC236}">
                <a16:creationId xmlns:a16="http://schemas.microsoft.com/office/drawing/2014/main" id="{3EDFE1B5-0E83-44D5-B306-1B3616C0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0000"/>
            <a:ext cx="11144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22A5D9-B950-4473-9508-A523E304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623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  <p:sp>
        <p:nvSpPr>
          <p:cNvPr id="33" name="semiconductor-row-2">
            <a:extLst xmlns:a="http://schemas.openxmlformats.org/drawingml/2006/main">
              <a:ext uri="{FF2B5EF4-FFF2-40B4-BE49-F238E27FC236}">
                <a16:creationId xmlns:a16="http://schemas.microsoft.com/office/drawing/2014/main" id="{F28F7B72-69E6-4130-85AE-134C3026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DC"/>
          </a:solidFill>
          <a:ln xmlns:a="http://schemas.openxmlformats.org/drawingml/2006/main" w="9525">
            <a:solidFill>
              <a:srgbClr val="D7CBB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3398FD-A8CB-425D-AA08-4C1B6BFA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GaN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7AE7CE-814F-4EA7-9759-C0DF6EEE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3872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fast switching and compact form</a:t>
            </a:r>
          </a:p>
        </p:txBody>
      </p:sp>
      <p:sp>
        <p:nvSpPr>
          <p:cNvPr id="36" name="semiconductor-2-0-track">
            <a:extLst xmlns:a="http://schemas.openxmlformats.org/drawingml/2006/main">
              <a:ext uri="{FF2B5EF4-FFF2-40B4-BE49-F238E27FC236}">
                <a16:creationId xmlns:a16="http://schemas.microsoft.com/office/drawing/2014/main" id="{792CEA44-19BB-431A-96DF-58B9673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006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semiconductor-2-0-fill">
            <a:extLst xmlns:a="http://schemas.openxmlformats.org/drawingml/2006/main">
              <a:ext uri="{FF2B5EF4-FFF2-40B4-BE49-F238E27FC236}">
                <a16:creationId xmlns:a16="http://schemas.microsoft.com/office/drawing/2014/main" id="{3D99B78D-867F-466B-BFAC-C9AB2E6A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0060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C10E8B-3BE9-4BF2-918D-5036062C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529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39" name="semiconductor-2-1-track">
            <a:extLst xmlns:a="http://schemas.openxmlformats.org/drawingml/2006/main">
              <a:ext uri="{FF2B5EF4-FFF2-40B4-BE49-F238E27FC236}">
                <a16:creationId xmlns:a16="http://schemas.microsoft.com/office/drawing/2014/main" id="{E24ADEB0-51ED-4983-B233-70329972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006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semiconductor-2-1-fill">
            <a:extLst xmlns:a="http://schemas.openxmlformats.org/drawingml/2006/main">
              <a:ext uri="{FF2B5EF4-FFF2-40B4-BE49-F238E27FC236}">
                <a16:creationId xmlns:a16="http://schemas.microsoft.com/office/drawing/2014/main" id="{5DFC7688-8B6A-4617-8A47-D5099477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006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F41434-707C-4BDA-8900-F503EF05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529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  <p:sp>
        <p:nvSpPr>
          <p:cNvPr id="42" name="semiconductor-2-2-track">
            <a:extLst xmlns:a="http://schemas.openxmlformats.org/drawingml/2006/main">
              <a:ext uri="{FF2B5EF4-FFF2-40B4-BE49-F238E27FC236}">
                <a16:creationId xmlns:a16="http://schemas.microsoft.com/office/drawing/2014/main" id="{147DA92C-EBBF-4A77-A9D7-21A9C1BD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06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5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semiconductor-2-2-fill">
            <a:extLst xmlns:a="http://schemas.openxmlformats.org/drawingml/2006/main">
              <a:ext uri="{FF2B5EF4-FFF2-40B4-BE49-F238E27FC236}">
                <a16:creationId xmlns:a16="http://schemas.microsoft.com/office/drawing/2014/main" id="{DA640E3D-14EB-4D32-B07A-3D2F1C4A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0600"/>
            <a:ext cx="130016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C84F67-0B8E-43CA-B032-0C46E8B5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529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91</a:t>
            </a:r>
          </a:p>
        </p:txBody>
      </p:sp>
      <p:sp>
        <p:nvSpPr>
          <p:cNvPr id="45" name="design-freedom-callout">
            <a:extLst xmlns:a="http://schemas.openxmlformats.org/drawingml/2006/main">
              <a:ext uri="{FF2B5EF4-FFF2-40B4-BE49-F238E27FC236}">
                <a16:creationId xmlns:a16="http://schemas.microsoft.com/office/drawing/2014/main" id="{E58E1E0E-66CC-423C-9FB9-070955B3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971550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30176A-B29C-4D3C-81E1-464825C0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181100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FD1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BFD1FF"/>
                </a:solidFill>
                <a:latin typeface="Aptos"/>
                <a:ea typeface="Aptos"/>
                <a:cs typeface="Aptos"/>
              </a:rPr>
              <a:t>DESIGN FREEDOM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CB2119-6783-458F-A664-26B95740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D8DEE8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D8DEE8"/>
                </a:solidFill>
                <a:latin typeface="Aptos"/>
                <a:ea typeface="Aptos"/>
                <a:cs typeface="Aptos"/>
              </a:rPr>
              <a:t>Higher switching speed can reduce passive components; higher temperature tolerance can simplify thermal design.</a:t>
            </a:r>
          </a:p>
        </p:txBody>
      </p:sp>
      <p:sp>
        <p:nvSpPr>
          <p:cNvPr id="48" name="notes-rule">
            <a:extLst xmlns:a="http://schemas.openxmlformats.org/drawingml/2006/main">
              <a:ext uri="{FF2B5EF4-FFF2-40B4-BE49-F238E27FC236}">
                <a16:creationId xmlns:a16="http://schemas.microsoft.com/office/drawing/2014/main" id="{CA630907-566D-4560-B809-68B60C0D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C68DA5-F942-44A8-9C2B-DFCE3351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Index basis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3EE75A-B740-472C-828A-0AFDF662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19775"/>
            <a:ext cx="533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Qualitative 0-100 index synthesizing expected design effect by material class; not a vendor benchmark.</a:t>
            </a:r>
          </a:p>
        </p:txBody>
      </p:sp>
      <p:sp>
        <p:nvSpPr>
          <p:cNvPr id="5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21287D9-03BF-4DA3-8F46-0CB691FE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DD7CF45-C90F-41F9-AEE5-4DEE0DB4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D879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621C2F2E-C81C-4112-A213-0A2A20ED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486525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7D8796"/>
                </a:solidFill>
                <a:latin typeface="Aptos"/>
                <a:ea typeface="Aptos"/>
                <a:cs typeface="Aptos"/>
              </a:rPr>
              <a:t>Source: ORNL PEEM; strategic synthesis</a:t>
            </a:r>
          </a:p>
        </p:txBody>
      </p:sp>
    </p:spTree>
    <p:extLst>
      <p:ext uri="{BB962C8B-B14F-4D97-AF65-F5344CB8AC3E}">
        <p14:creationId xmlns:p14="http://schemas.microsoft.com/office/powerpoint/2010/main" val="20924767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770ABCE-E798-4EA9-8F05-2BBD1446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AE0EC694-FF88-43A8-984D-6810DB41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8059F2A7-1C82-4F27-8B50-FB2A74FE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STORAGE FLEXIBILITY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9A1F8-0D75-4E9B-A815-40EFE188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Storage is evolving from backup hardware into dispatchable flexibility.</a:t>
            </a:r>
          </a:p>
        </p:txBody>
      </p:sp>
      <p:sp>
        <p:nvSpPr>
          <p:cNvPr id="5" name="battery-metric-panel">
            <a:extLst xmlns:a="http://schemas.openxmlformats.org/drawingml/2006/main">
              <a:ext uri="{FF2B5EF4-FFF2-40B4-BE49-F238E27FC236}">
                <a16:creationId xmlns:a16="http://schemas.microsoft.com/office/drawing/2014/main" id="{5D0236BB-4C2B-45EB-BAF1-B9D04457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19150"/>
            <a:ext cx="2247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battery-metric-rule">
            <a:extLst xmlns:a="http://schemas.openxmlformats.org/drawingml/2006/main">
              <a:ext uri="{FF2B5EF4-FFF2-40B4-BE49-F238E27FC236}">
                <a16:creationId xmlns:a16="http://schemas.microsoft.com/office/drawing/2014/main" id="{0020A781-BB54-4BE3-942B-1424DE57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08585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battery-metric-value">
            <a:extLst xmlns:a="http://schemas.openxmlformats.org/drawingml/2006/main">
              <a:ext uri="{FF2B5EF4-FFF2-40B4-BE49-F238E27FC236}">
                <a16:creationId xmlns:a16="http://schemas.microsoft.com/office/drawing/2014/main" id="{C1D0A6D9-1F7A-4029-822F-9694D2C0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06680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42 GW</a:t>
            </a:r>
          </a:p>
        </p:txBody>
      </p:sp>
      <p:sp>
        <p:nvSpPr>
          <p:cNvPr id="8" name="battery-metric-label">
            <a:extLst xmlns:a="http://schemas.openxmlformats.org/drawingml/2006/main">
              <a:ext uri="{FF2B5EF4-FFF2-40B4-BE49-F238E27FC236}">
                <a16:creationId xmlns:a16="http://schemas.microsoft.com/office/drawing/2014/main" id="{E4E2F7BE-2F3D-439F-A1F9-F1B245FB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00175"/>
            <a:ext cx="1562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C3CAD4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C3CAD4"/>
                </a:solidFill>
                <a:latin typeface="Aptos"/>
                <a:ea typeface="Aptos"/>
                <a:cs typeface="Aptos"/>
              </a:rPr>
              <a:t>BATTERY STORAGE ADDED</a:t>
            </a:r>
          </a:p>
        </p:txBody>
      </p:sp>
      <p:sp>
        <p:nvSpPr>
          <p:cNvPr id="9" name="battery-metric-note">
            <a:extLst xmlns:a="http://schemas.openxmlformats.org/drawingml/2006/main">
              <a:ext uri="{FF2B5EF4-FFF2-40B4-BE49-F238E27FC236}">
                <a16:creationId xmlns:a16="http://schemas.microsoft.com/office/drawing/2014/main" id="{E9AC1F55-9B42-4B65-B5E2-092F73B4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6210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8C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EB8C4"/>
                </a:solidFill>
                <a:latin typeface="Aptos"/>
                <a:ea typeface="Aptos"/>
                <a:cs typeface="Aptos"/>
              </a:rPr>
              <a:t>global power sector, 2023</a:t>
            </a:r>
          </a:p>
        </p:txBody>
      </p:sp>
      <p:sp>
        <p:nvSpPr>
          <p:cNvPr id="10" name="storage-row-0">
            <a:extLst xmlns:a="http://schemas.openxmlformats.org/drawingml/2006/main">
              <a:ext uri="{FF2B5EF4-FFF2-40B4-BE49-F238E27FC236}">
                <a16:creationId xmlns:a16="http://schemas.microsoft.com/office/drawing/2014/main" id="{8DA7CFB9-CD71-4108-A253-8AEC671B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9525">
            <a:solidFill>
              <a:srgbClr val="D6CABA"/>
            </a:solidFill>
            <a:prstDash val="solid"/>
          </a:ln>
        </p:spPr>
      </p:sp>
      <p:sp>
        <p:nvSpPr>
          <p:cNvPr id="11" name="storage-band-0">
            <a:extLst xmlns:a="http://schemas.openxmlformats.org/drawingml/2006/main">
              <a:ext uri="{FF2B5EF4-FFF2-40B4-BE49-F238E27FC236}">
                <a16:creationId xmlns:a16="http://schemas.microsoft.com/office/drawing/2014/main" id="{0DB2B047-8AB1-4372-A737-476D2C90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FAA9C-6D77-43F5-83BD-98A49DC1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Milliseconds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41686-1D64-461D-A544-D49FCBA6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384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Power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A24D1-67BE-4C88-B9C1-7F598ED6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670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synthetic inertia, ride-through, frequency response</a:t>
            </a:r>
          </a:p>
        </p:txBody>
      </p:sp>
      <p:sp>
        <p:nvSpPr>
          <p:cNvPr id="15" name="storage-score-track-0">
            <a:extLst xmlns:a="http://schemas.openxmlformats.org/drawingml/2006/main">
              <a:ext uri="{FF2B5EF4-FFF2-40B4-BE49-F238E27FC236}">
                <a16:creationId xmlns:a16="http://schemas.microsoft.com/office/drawing/2014/main" id="{A3ADCB37-1F79-4878-82F4-07DA1F03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527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torage-score-fill-0">
            <a:extLst xmlns:a="http://schemas.openxmlformats.org/drawingml/2006/main">
              <a:ext uri="{FF2B5EF4-FFF2-40B4-BE49-F238E27FC236}">
                <a16:creationId xmlns:a16="http://schemas.microsoft.com/office/drawing/2014/main" id="{C0A060AA-BED5-46B3-8339-FBFAFE16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52700"/>
            <a:ext cx="156019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6BAB2-5CBB-4FC9-BD53-82EB8CB2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24125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54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dispatch maturity</a:t>
            </a:r>
          </a:p>
        </p:txBody>
      </p:sp>
      <p:sp>
        <p:nvSpPr>
          <p:cNvPr id="18" name="storage-row-1">
            <a:extLst xmlns:a="http://schemas.openxmlformats.org/drawingml/2006/main">
              <a:ext uri="{FF2B5EF4-FFF2-40B4-BE49-F238E27FC236}">
                <a16:creationId xmlns:a16="http://schemas.microsoft.com/office/drawing/2014/main" id="{C912FFC1-6364-4B0C-9181-2DDC3871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D"/>
          </a:solidFill>
          <a:ln xmlns:a="http://schemas.openxmlformats.org/drawingml/2006/main" w="9525">
            <a:solidFill>
              <a:srgbClr val="D6CABA"/>
            </a:solidFill>
            <a:prstDash val="solid"/>
          </a:ln>
        </p:spPr>
      </p:sp>
      <p:sp>
        <p:nvSpPr>
          <p:cNvPr id="19" name="storage-band-1">
            <a:extLst xmlns:a="http://schemas.openxmlformats.org/drawingml/2006/main">
              <a:ext uri="{FF2B5EF4-FFF2-40B4-BE49-F238E27FC236}">
                <a16:creationId xmlns:a16="http://schemas.microsoft.com/office/drawing/2014/main" id="{6B2CE2F1-5E91-4CA2-A524-530B3BA1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E69B3-C04D-46B6-B699-013B31E1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Minutes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096CD1-1810-4E88-A886-E9DC7624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575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Operational reserves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53EDA-6A2C-4B59-AE8F-6122CA84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8615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BESS, inverter response, fast demand flexibility</a:t>
            </a:r>
          </a:p>
        </p:txBody>
      </p:sp>
      <p:sp>
        <p:nvSpPr>
          <p:cNvPr id="23" name="storage-score-track-1">
            <a:extLst xmlns:a="http://schemas.openxmlformats.org/drawingml/2006/main">
              <a:ext uri="{FF2B5EF4-FFF2-40B4-BE49-F238E27FC236}">
                <a16:creationId xmlns:a16="http://schemas.microsoft.com/office/drawing/2014/main" id="{615D62BE-8962-4E8E-88D7-0720BCA5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718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torage-score-fill-1">
            <a:extLst xmlns:a="http://schemas.openxmlformats.org/drawingml/2006/main">
              <a:ext uri="{FF2B5EF4-FFF2-40B4-BE49-F238E27FC236}">
                <a16:creationId xmlns:a16="http://schemas.microsoft.com/office/drawing/2014/main" id="{7A20D280-E76A-435E-8327-E16EEB98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71850"/>
            <a:ext cx="170021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6F3E9F-44F9-4BF5-9B67-DD16BAD3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43275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54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dispatch maturity</a:t>
            </a:r>
          </a:p>
        </p:txBody>
      </p:sp>
      <p:sp>
        <p:nvSpPr>
          <p:cNvPr id="26" name="storage-row-2">
            <a:extLst xmlns:a="http://schemas.openxmlformats.org/drawingml/2006/main">
              <a:ext uri="{FF2B5EF4-FFF2-40B4-BE49-F238E27FC236}">
                <a16:creationId xmlns:a16="http://schemas.microsoft.com/office/drawing/2014/main" id="{F430E464-8F09-4601-AF60-46EC01B3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9525">
            <a:solidFill>
              <a:srgbClr val="D6CABA"/>
            </a:solidFill>
            <a:prstDash val="solid"/>
          </a:ln>
        </p:spPr>
      </p:sp>
      <p:sp>
        <p:nvSpPr>
          <p:cNvPr id="27" name="storage-band-2">
            <a:extLst xmlns:a="http://schemas.openxmlformats.org/drawingml/2006/main">
              <a:ext uri="{FF2B5EF4-FFF2-40B4-BE49-F238E27FC236}">
                <a16:creationId xmlns:a16="http://schemas.microsoft.com/office/drawing/2014/main" id="{C94BF8A3-35A6-4338-81CA-1E6E4D52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9A085B-6C15-46C0-BEB5-C9F94682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Hours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5D606-C585-4B4B-875D-E9894BE2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767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Daily shifting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6FFA75-9BB6-4EF2-8159-2CE815E1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053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EV charging windows, building pre-cooling, industrial load shift</a:t>
            </a:r>
          </a:p>
        </p:txBody>
      </p:sp>
      <p:sp>
        <p:nvSpPr>
          <p:cNvPr id="31" name="storage-score-track-2">
            <a:extLst xmlns:a="http://schemas.openxmlformats.org/drawingml/2006/main">
              <a:ext uri="{FF2B5EF4-FFF2-40B4-BE49-F238E27FC236}">
                <a16:creationId xmlns:a16="http://schemas.microsoft.com/office/drawing/2014/main" id="{46E5404D-0D28-4C64-B43F-F54E609C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9100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torage-score-fill-2">
            <a:extLst xmlns:a="http://schemas.openxmlformats.org/drawingml/2006/main">
              <a:ext uri="{FF2B5EF4-FFF2-40B4-BE49-F238E27FC236}">
                <a16:creationId xmlns:a16="http://schemas.microsoft.com/office/drawing/2014/main" id="{B271359A-991B-4765-B47D-506DEA3E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91000"/>
            <a:ext cx="148018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9F77B7-0507-4AA8-A41E-B8200A26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62425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54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dispatch maturity</a:t>
            </a:r>
          </a:p>
        </p:txBody>
      </p:sp>
      <p:sp>
        <p:nvSpPr>
          <p:cNvPr id="34" name="storage-row-3">
            <a:extLst xmlns:a="http://schemas.openxmlformats.org/drawingml/2006/main">
              <a:ext uri="{FF2B5EF4-FFF2-40B4-BE49-F238E27FC236}">
                <a16:creationId xmlns:a16="http://schemas.microsoft.com/office/drawing/2014/main" id="{7DF72D44-DA0A-41D9-A397-9AE1085B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D"/>
          </a:solidFill>
          <a:ln xmlns:a="http://schemas.openxmlformats.org/drawingml/2006/main" w="9525">
            <a:solidFill>
              <a:srgbClr val="D6CABA"/>
            </a:solidFill>
            <a:prstDash val="solid"/>
          </a:ln>
        </p:spPr>
      </p:sp>
      <p:sp>
        <p:nvSpPr>
          <p:cNvPr id="35" name="storage-band-3">
            <a:extLst xmlns:a="http://schemas.openxmlformats.org/drawingml/2006/main">
              <a:ext uri="{FF2B5EF4-FFF2-40B4-BE49-F238E27FC236}">
                <a16:creationId xmlns:a16="http://schemas.microsoft.com/office/drawing/2014/main" id="{B639F666-0532-482A-B598-88142BA0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A61343-5C79-4105-9AF3-A8AEA77D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Days+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094A9F-3C04-48FE-89F7-AA028AA6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95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Resilience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80EA0D-A75D-46DF-80C7-D7CFF3AA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2445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microgrids, thermal storage, long-duration storage</a:t>
            </a:r>
          </a:p>
        </p:txBody>
      </p:sp>
      <p:sp>
        <p:nvSpPr>
          <p:cNvPr id="39" name="storage-score-track-3">
            <a:extLst xmlns:a="http://schemas.openxmlformats.org/drawingml/2006/main">
              <a:ext uri="{FF2B5EF4-FFF2-40B4-BE49-F238E27FC236}">
                <a16:creationId xmlns:a16="http://schemas.microsoft.com/office/drawing/2014/main" id="{0E5B47FD-31D3-4C0F-8A0A-4970112A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10150"/>
            <a:ext cx="200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storage-score-fill-3">
            <a:extLst xmlns:a="http://schemas.openxmlformats.org/drawingml/2006/main">
              <a:ext uri="{FF2B5EF4-FFF2-40B4-BE49-F238E27FC236}">
                <a16:creationId xmlns:a16="http://schemas.microsoft.com/office/drawing/2014/main" id="{0CBCF3B0-F5DC-4E78-9E9C-CB8D3FCA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10150"/>
            <a:ext cx="116014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B3E843-F719-4820-8C37-B93A3762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81575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54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dispatch maturity</a:t>
            </a:r>
          </a:p>
        </p:txBody>
      </p:sp>
      <p:sp>
        <p:nvSpPr>
          <p:cNvPr id="42" name="design-shift-tag-box">
            <a:extLst xmlns:a="http://schemas.openxmlformats.org/drawingml/2006/main">
              <a:ext uri="{FF2B5EF4-FFF2-40B4-BE49-F238E27FC236}">
                <a16:creationId xmlns:a16="http://schemas.microsoft.com/office/drawing/2014/main" id="{39918A44-2B57-4955-A8A2-39CAE4C3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C8C70"/>
            </a:solidFill>
            <a:prstDash val="solid"/>
          </a:ln>
        </p:spPr>
      </p:sp>
      <p:sp>
        <p:nvSpPr>
          <p:cNvPr id="43" name="design-shift-tag-label">
            <a:extLst xmlns:a="http://schemas.openxmlformats.org/drawingml/2006/main">
              <a:ext uri="{FF2B5EF4-FFF2-40B4-BE49-F238E27FC236}">
                <a16:creationId xmlns:a16="http://schemas.microsoft.com/office/drawing/2014/main" id="{7A15B2C2-605E-4794-BA6B-A696E05A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1500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2C8C7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2C8C70"/>
                </a:solidFill>
                <a:latin typeface="Aptos"/>
                <a:ea typeface="Aptos"/>
                <a:cs typeface="Aptos"/>
              </a:rPr>
              <a:t>DESIGN SHIFT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2EA410-A7DC-464C-8146-3C4AE607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769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Storage value increases when it is co-optimized with charging, building loads, market signals, and inverter controls - not when it sits alone as backup capacity.</a:t>
            </a:r>
          </a:p>
        </p:txBody>
      </p:sp>
      <p:sp>
        <p:nvSpPr>
          <p:cNvPr id="4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7446EE4-B054-45C1-B7CD-8EB52972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6EEDEFB-27EA-4970-B697-83536434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D879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7857369-4036-479E-81FF-AE38B1AB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486525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7D8796"/>
                </a:solidFill>
                <a:latin typeface="Aptos"/>
                <a:ea typeface="Aptos"/>
                <a:cs typeface="Aptos"/>
              </a:rPr>
              <a:t>Source: IEA Batteries and Secure Energy Transitions</a:t>
            </a:r>
          </a:p>
        </p:txBody>
      </p:sp>
    </p:spTree>
    <p:extLst>
      <p:ext uri="{BB962C8B-B14F-4D97-AF65-F5344CB8AC3E}">
        <p14:creationId xmlns:p14="http://schemas.microsoft.com/office/powerpoint/2010/main" val="19305020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1A76032-23E1-42FD-B556-C6033A71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44F405CC-E35F-4596-BEB7-63964E00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A147CC03-3708-4A43-80C7-F6993F4E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SMART GRID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2BB4E-ACA9-4518-A56C-39149296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Smart grids shift operations from reactive repair to predictive orchestration.</a:t>
            </a:r>
          </a:p>
        </p:txBody>
      </p:sp>
      <p:sp>
        <p:nvSpPr>
          <p:cNvPr id="5" name="grid-lane-0">
            <a:extLst xmlns:a="http://schemas.openxmlformats.org/drawingml/2006/main">
              <a:ext uri="{FF2B5EF4-FFF2-40B4-BE49-F238E27FC236}">
                <a16:creationId xmlns:a16="http://schemas.microsoft.com/office/drawing/2014/main" id="{1D99C6E2-F817-4D75-8144-E612577F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724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6CABA"/>
            </a:solidFill>
            <a:prstDash val="solid"/>
          </a:ln>
        </p:spPr>
      </p:sp>
      <p:sp>
        <p:nvSpPr>
          <p:cNvPr id="6" name="grid-lane-0-top">
            <a:extLst xmlns:a="http://schemas.openxmlformats.org/drawingml/2006/main">
              <a:ext uri="{FF2B5EF4-FFF2-40B4-BE49-F238E27FC236}">
                <a16:creationId xmlns:a16="http://schemas.microsoft.com/office/drawing/2014/main" id="{90BEB9DC-CBD7-4770-825D-322BA630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724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76EDE-A6F0-42FE-9AD1-17457368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Reactive grid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85FCB-CF31-4F61-AA30-16D61B08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OBSERVE AFTER EVENT</a:t>
            </a:r>
          </a:p>
        </p:txBody>
      </p:sp>
      <p:sp>
        <p:nvSpPr>
          <p:cNvPr id="9" name="grid-lane-0-rule">
            <a:extLst xmlns:a="http://schemas.openxmlformats.org/drawingml/2006/main">
              <a:ext uri="{FF2B5EF4-FFF2-40B4-BE49-F238E27FC236}">
                <a16:creationId xmlns:a16="http://schemas.microsoft.com/office/drawing/2014/main" id="{283B9128-F007-42D2-ABF4-760C2D2D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D8779-AE74-4272-A210-4BB2A918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truck rolls, manual switching, static planning</a:t>
            </a:r>
          </a:p>
        </p:txBody>
      </p:sp>
      <p:sp>
        <p:nvSpPr>
          <p:cNvPr id="11" name="grid-lane-1">
            <a:extLst xmlns:a="http://schemas.openxmlformats.org/drawingml/2006/main">
              <a:ext uri="{FF2B5EF4-FFF2-40B4-BE49-F238E27FC236}">
                <a16:creationId xmlns:a16="http://schemas.microsoft.com/office/drawing/2014/main" id="{54580618-4DC9-4B74-A1DE-4CCF704A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81250"/>
            <a:ext cx="2724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6CABA"/>
            </a:solidFill>
            <a:prstDash val="solid"/>
          </a:ln>
        </p:spPr>
      </p:sp>
      <p:sp>
        <p:nvSpPr>
          <p:cNvPr id="12" name="grid-lane-1-top">
            <a:extLst xmlns:a="http://schemas.openxmlformats.org/drawingml/2006/main">
              <a:ext uri="{FF2B5EF4-FFF2-40B4-BE49-F238E27FC236}">
                <a16:creationId xmlns:a16="http://schemas.microsoft.com/office/drawing/2014/main" id="{7254C052-55A8-42EC-B15A-DB3FF96F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81250"/>
            <a:ext cx="2724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C0F51-252A-40A8-98AA-3E7ACECA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24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Instrumented grid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6C399-FBD6-4459-B75C-F9F2A808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SEE CONSTRAINTS EARLY</a:t>
            </a:r>
          </a:p>
        </p:txBody>
      </p:sp>
      <p:sp>
        <p:nvSpPr>
          <p:cNvPr id="15" name="grid-lane-1-rule">
            <a:extLst xmlns:a="http://schemas.openxmlformats.org/drawingml/2006/main">
              <a:ext uri="{FF2B5EF4-FFF2-40B4-BE49-F238E27FC236}">
                <a16:creationId xmlns:a16="http://schemas.microsoft.com/office/drawing/2014/main" id="{58667B2C-F804-46C6-B031-07878699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942ED-6CA1-443D-B156-1CAC8F47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957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AMI, sensors, feeder models, asset telemetry</a:t>
            </a:r>
          </a:p>
        </p:txBody>
      </p:sp>
      <p:sp>
        <p:nvSpPr>
          <p:cNvPr id="17" name="grid-lane-2">
            <a:extLst xmlns:a="http://schemas.openxmlformats.org/drawingml/2006/main">
              <a:ext uri="{FF2B5EF4-FFF2-40B4-BE49-F238E27FC236}">
                <a16:creationId xmlns:a16="http://schemas.microsoft.com/office/drawing/2014/main" id="{CC586161-FD98-4949-AC42-637F5FE0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2724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9525">
            <a:solidFill>
              <a:srgbClr val="2B3038"/>
            </a:solidFill>
            <a:prstDash val="solid"/>
          </a:ln>
        </p:spPr>
      </p:sp>
      <p:sp>
        <p:nvSpPr>
          <p:cNvPr id="18" name="grid-lane-2-top">
            <a:extLst xmlns:a="http://schemas.openxmlformats.org/drawingml/2006/main">
              <a:ext uri="{FF2B5EF4-FFF2-40B4-BE49-F238E27FC236}">
                <a16:creationId xmlns:a16="http://schemas.microsoft.com/office/drawing/2014/main" id="{A9758266-3B2B-4C8C-ADA1-754364C1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2724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61FDDD-EE02-4578-9AAC-D55E8D29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24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Orchestrated grid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6A417-772C-4681-B50F-7C23E4A0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C8D3D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C8D3DF"/>
                </a:solidFill>
                <a:latin typeface="Aptos"/>
                <a:ea typeface="Aptos"/>
                <a:cs typeface="Aptos"/>
              </a:rPr>
              <a:t>DISPATCH BEFORE DRIFT</a:t>
            </a:r>
          </a:p>
        </p:txBody>
      </p:sp>
      <p:sp>
        <p:nvSpPr>
          <p:cNvPr id="21" name="grid-lane-2-rule">
            <a:extLst xmlns:a="http://schemas.openxmlformats.org/drawingml/2006/main">
              <a:ext uri="{FF2B5EF4-FFF2-40B4-BE49-F238E27FC236}">
                <a16:creationId xmlns:a16="http://schemas.microsoft.com/office/drawing/2014/main" id="{E84F110D-74CD-43F3-8028-E22960C5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2900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1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46306-A6FC-4A1E-B993-016453B3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957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EF3F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EF3F8"/>
                </a:solidFill>
                <a:latin typeface="Aptos"/>
                <a:ea typeface="Aptos"/>
                <a:cs typeface="Aptos"/>
              </a:rPr>
              <a:t>ADMS, DERMS, forecasts, autonomous controls</a:t>
            </a:r>
          </a:p>
        </p:txBody>
      </p:sp>
      <p:sp>
        <p:nvSpPr>
          <p:cNvPr id="23" name="grid-transition-1">
            <a:extLst xmlns:a="http://schemas.openxmlformats.org/drawingml/2006/main">
              <a:ext uri="{FF2B5EF4-FFF2-40B4-BE49-F238E27FC236}">
                <a16:creationId xmlns:a16="http://schemas.microsoft.com/office/drawing/2014/main" id="{54C034FE-2649-48E3-B84A-38E0F6DB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14725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grid-transition-2">
            <a:extLst xmlns:a="http://schemas.openxmlformats.org/drawingml/2006/main">
              <a:ext uri="{FF2B5EF4-FFF2-40B4-BE49-F238E27FC236}">
                <a16:creationId xmlns:a16="http://schemas.microsoft.com/office/drawing/2014/main" id="{0C440876-9933-49C7-868D-9118EAB6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14725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cale-fact-tag-tag-box">
            <a:extLst xmlns:a="http://schemas.openxmlformats.org/drawingml/2006/main">
              <a:ext uri="{FF2B5EF4-FFF2-40B4-BE49-F238E27FC236}">
                <a16:creationId xmlns:a16="http://schemas.microsoft.com/office/drawing/2014/main" id="{FDC9C40B-D3E9-4FC2-9CA8-B8C82850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6" name="scale-fact-tag-tag-label">
            <a:extLst xmlns:a="http://schemas.openxmlformats.org/drawingml/2006/main">
              <a:ext uri="{FF2B5EF4-FFF2-40B4-BE49-F238E27FC236}">
                <a16:creationId xmlns:a16="http://schemas.microsoft.com/office/drawing/2014/main" id="{4CAB2DA8-9735-4359-B07F-FB0C44B8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257800"/>
            <a:ext cx="704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2F6BFF"/>
                </a:solidFill>
                <a:latin typeface="Aptos"/>
                <a:ea typeface="Aptos"/>
                <a:cs typeface="Aptos"/>
              </a:rPr>
              <a:t>SCALE FACT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9E7BDC-0D6D-4186-B548-56B0E7AC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0065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Around 80 million km of transmission and distribution lines makes orchestration a software, sensing, and governance problem as much as an asset problem.</a:t>
            </a:r>
          </a:p>
        </p:txBody>
      </p:sp>
      <p:sp>
        <p:nvSpPr>
          <p:cNvPr id="28" name="80m-km-badge">
            <a:extLst xmlns:a="http://schemas.openxmlformats.org/drawingml/2006/main">
              <a:ext uri="{FF2B5EF4-FFF2-40B4-BE49-F238E27FC236}">
                <a16:creationId xmlns:a16="http://schemas.microsoft.com/office/drawing/2014/main" id="{8E8EC5DB-B9E8-473A-BBD8-BE1BADC7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6730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290272-D727-412E-A32C-2B64BEE9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006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80M km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5337C2-576A-44C2-A44D-1996B3F0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29250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55" b="0">
                <a:solidFill>
                  <a:srgbClr val="D9E4FF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D9E4FF"/>
                </a:solidFill>
                <a:latin typeface="Aptos"/>
                <a:ea typeface="Aptos"/>
                <a:cs typeface="Aptos"/>
              </a:rPr>
              <a:t>global grid lines</a:t>
            </a:r>
          </a:p>
        </p:txBody>
      </p:sp>
      <p:sp>
        <p:nvSpPr>
          <p:cNvPr id="3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E14968-2166-4FEB-BC3B-D63006D4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A6219C6-9188-4AC2-A816-84D69693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D879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BD24482-FC68-429A-862E-850F4A9D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486525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7D8796"/>
                </a:solidFill>
                <a:latin typeface="Aptos"/>
                <a:ea typeface="Aptos"/>
                <a:cs typeface="Aptos"/>
              </a:rPr>
              <a:t>Source: IEA Smart Grids; NREL ADMS</a:t>
            </a:r>
          </a:p>
        </p:txBody>
      </p:sp>
    </p:spTree>
    <p:extLst>
      <p:ext uri="{BB962C8B-B14F-4D97-AF65-F5344CB8AC3E}">
        <p14:creationId xmlns:p14="http://schemas.microsoft.com/office/powerpoint/2010/main" val="20743602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679F0DD-C141-425D-A49A-E8CC4102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9146CE79-DA4E-48D0-A337-B91852C5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95360FE5-E406-4254-B187-0A3776F5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SECTOR COUPLING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2FBCD-A57A-4F6D-AA1F-54041C0D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Electrification creates the most value when mobility, buildings, and industry are coordinated.</a:t>
            </a:r>
          </a:p>
        </p:txBody>
      </p:sp>
      <p:sp>
        <p:nvSpPr>
          <p:cNvPr id="5" name="central-orchestration">
            <a:extLst xmlns:a="http://schemas.openxmlformats.org/drawingml/2006/main">
              <a:ext uri="{FF2B5EF4-FFF2-40B4-BE49-F238E27FC236}">
                <a16:creationId xmlns:a16="http://schemas.microsoft.com/office/drawing/2014/main" id="{F284018C-91D7-4BB1-8433-22E84328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76500"/>
            <a:ext cx="2781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B4C01-983F-47AD-AD5B-CD1AE8F1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43200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Grid-edge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orchestration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4E437-97E3-4296-ABF1-F1F94F5C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828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C7D0D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7D0DD"/>
                </a:solidFill>
                <a:latin typeface="Aptos"/>
                <a:ea typeface="Aptos"/>
                <a:cs typeface="Aptos"/>
              </a:rPr>
              <a:t>forecast, dispatch, verify</a:t>
            </a:r>
          </a:p>
        </p:txBody>
      </p:sp>
      <p:sp>
        <p:nvSpPr>
          <p:cNvPr id="8" name="sector-0-box">
            <a:extLst xmlns:a="http://schemas.openxmlformats.org/drawingml/2006/main">
              <a:ext uri="{FF2B5EF4-FFF2-40B4-BE49-F238E27FC236}">
                <a16:creationId xmlns:a16="http://schemas.microsoft.com/office/drawing/2014/main" id="{1586BFB6-B436-4A15-B51D-DFC40980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DBF"/>
            </a:solidFill>
            <a:prstDash val="solid"/>
          </a:ln>
        </p:spPr>
      </p:sp>
      <p:sp>
        <p:nvSpPr>
          <p:cNvPr id="9" name="sector-0-accent">
            <a:extLst xmlns:a="http://schemas.openxmlformats.org/drawingml/2006/main">
              <a:ext uri="{FF2B5EF4-FFF2-40B4-BE49-F238E27FC236}">
                <a16:creationId xmlns:a16="http://schemas.microsoft.com/office/drawing/2014/main" id="{E81772D9-80A0-4803-8D3A-0893744C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ector-0-label">
            <a:extLst xmlns:a="http://schemas.openxmlformats.org/drawingml/2006/main">
              <a:ext uri="{FF2B5EF4-FFF2-40B4-BE49-F238E27FC236}">
                <a16:creationId xmlns:a16="http://schemas.microsoft.com/office/drawing/2014/main" id="{3610B2C7-2AC3-4E96-9551-27BEDE70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Mobility</a:t>
            </a:r>
          </a:p>
        </p:txBody>
      </p:sp>
      <p:sp>
        <p:nvSpPr>
          <p:cNvPr id="11" name="sector-0-detail">
            <a:extLst xmlns:a="http://schemas.openxmlformats.org/drawingml/2006/main">
              <a:ext uri="{FF2B5EF4-FFF2-40B4-BE49-F238E27FC236}">
                <a16:creationId xmlns:a16="http://schemas.microsoft.com/office/drawing/2014/main" id="{B09043F1-3BAE-4AEF-8F52-E7496A3B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managed charging, depot scheduling, V2G readiness</a:t>
            </a:r>
          </a:p>
        </p:txBody>
      </p:sp>
      <p:sp>
        <p:nvSpPr>
          <p:cNvPr id="12" name="sector-1-box">
            <a:extLst xmlns:a="http://schemas.openxmlformats.org/drawingml/2006/main">
              <a:ext uri="{FF2B5EF4-FFF2-40B4-BE49-F238E27FC236}">
                <a16:creationId xmlns:a16="http://schemas.microsoft.com/office/drawing/2014/main" id="{B1E22F65-5791-41B2-839D-241EA694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672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DBF"/>
            </a:solidFill>
            <a:prstDash val="solid"/>
          </a:ln>
        </p:spPr>
      </p:sp>
      <p:sp>
        <p:nvSpPr>
          <p:cNvPr id="13" name="sector-1-accent">
            <a:extLst xmlns:a="http://schemas.openxmlformats.org/drawingml/2006/main">
              <a:ext uri="{FF2B5EF4-FFF2-40B4-BE49-F238E27FC236}">
                <a16:creationId xmlns:a16="http://schemas.microsoft.com/office/drawing/2014/main" id="{6AB76F52-233A-42E0-9DAF-09BD4A75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67200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ector-1-label">
            <a:extLst xmlns:a="http://schemas.openxmlformats.org/drawingml/2006/main">
              <a:ext uri="{FF2B5EF4-FFF2-40B4-BE49-F238E27FC236}">
                <a16:creationId xmlns:a16="http://schemas.microsoft.com/office/drawing/2014/main" id="{2391CDAE-85EB-400E-A51E-33CB49C6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0055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Buildings</a:t>
            </a:r>
          </a:p>
        </p:txBody>
      </p:sp>
      <p:sp>
        <p:nvSpPr>
          <p:cNvPr id="15" name="sector-1-detail">
            <a:extLst xmlns:a="http://schemas.openxmlformats.org/drawingml/2006/main">
              <a:ext uri="{FF2B5EF4-FFF2-40B4-BE49-F238E27FC236}">
                <a16:creationId xmlns:a16="http://schemas.microsoft.com/office/drawing/2014/main" id="{5BE72873-F25F-4B72-818D-4E0C35BC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672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heat pumps, thermal mass, smart panels, demand response</a:t>
            </a:r>
          </a:p>
        </p:txBody>
      </p:sp>
      <p:sp>
        <p:nvSpPr>
          <p:cNvPr id="16" name="sector-2-box">
            <a:extLst xmlns:a="http://schemas.openxmlformats.org/drawingml/2006/main">
              <a:ext uri="{FF2B5EF4-FFF2-40B4-BE49-F238E27FC236}">
                <a16:creationId xmlns:a16="http://schemas.microsoft.com/office/drawing/2014/main" id="{5D2C45B2-5093-4523-92BF-B6896C74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672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DBF"/>
            </a:solidFill>
            <a:prstDash val="solid"/>
          </a:ln>
        </p:spPr>
      </p:sp>
      <p:sp>
        <p:nvSpPr>
          <p:cNvPr id="17" name="sector-2-accent">
            <a:extLst xmlns:a="http://schemas.openxmlformats.org/drawingml/2006/main">
              <a:ext uri="{FF2B5EF4-FFF2-40B4-BE49-F238E27FC236}">
                <a16:creationId xmlns:a16="http://schemas.microsoft.com/office/drawing/2014/main" id="{03CEF2F6-532E-4507-9A14-DA601E7E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67200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ector-2-label">
            <a:extLst xmlns:a="http://schemas.openxmlformats.org/drawingml/2006/main">
              <a:ext uri="{FF2B5EF4-FFF2-40B4-BE49-F238E27FC236}">
                <a16:creationId xmlns:a16="http://schemas.microsoft.com/office/drawing/2014/main" id="{7DB84EF1-4AB6-417A-BD6C-187BFD61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0055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Industry</a:t>
            </a:r>
          </a:p>
        </p:txBody>
      </p:sp>
      <p:sp>
        <p:nvSpPr>
          <p:cNvPr id="19" name="sector-2-detail">
            <a:extLst xmlns:a="http://schemas.openxmlformats.org/drawingml/2006/main">
              <a:ext uri="{FF2B5EF4-FFF2-40B4-BE49-F238E27FC236}">
                <a16:creationId xmlns:a16="http://schemas.microsoft.com/office/drawing/2014/main" id="{32025204-2056-4C21-917E-2D1EBB04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672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motors, drives, electric heat, flexible production windows</a:t>
            </a:r>
          </a:p>
        </p:txBody>
      </p:sp>
      <p:sp>
        <p:nvSpPr>
          <p:cNvPr id="20" name="sector-3-box">
            <a:extLst xmlns:a="http://schemas.openxmlformats.org/drawingml/2006/main">
              <a:ext uri="{FF2B5EF4-FFF2-40B4-BE49-F238E27FC236}">
                <a16:creationId xmlns:a16="http://schemas.microsoft.com/office/drawing/2014/main" id="{268C309A-4481-41CA-87A9-1885549A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DBF"/>
            </a:solidFill>
            <a:prstDash val="solid"/>
          </a:ln>
        </p:spPr>
      </p:sp>
      <p:sp>
        <p:nvSpPr>
          <p:cNvPr id="21" name="sector-3-accent">
            <a:extLst xmlns:a="http://schemas.openxmlformats.org/drawingml/2006/main">
              <a:ext uri="{FF2B5EF4-FFF2-40B4-BE49-F238E27FC236}">
                <a16:creationId xmlns:a16="http://schemas.microsoft.com/office/drawing/2014/main" id="{F2AB0CC1-9539-42CD-B38D-1A3EB6E9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0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ector-3-label">
            <a:extLst xmlns:a="http://schemas.openxmlformats.org/drawingml/2006/main">
              <a:ext uri="{FF2B5EF4-FFF2-40B4-BE49-F238E27FC236}">
                <a16:creationId xmlns:a16="http://schemas.microsoft.com/office/drawing/2014/main" id="{F263B1A9-C421-43A7-AF1D-1DB538E8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1935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Data centers</a:t>
            </a:r>
          </a:p>
        </p:txBody>
      </p:sp>
      <p:sp>
        <p:nvSpPr>
          <p:cNvPr id="23" name="sector-3-detail">
            <a:extLst xmlns:a="http://schemas.openxmlformats.org/drawingml/2006/main">
              <a:ext uri="{FF2B5EF4-FFF2-40B4-BE49-F238E27FC236}">
                <a16:creationId xmlns:a16="http://schemas.microsoft.com/office/drawing/2014/main" id="{30FDF3E8-62D8-4FDE-9119-14C00CD9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860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power-aware compute, backup integration, load shaping</a:t>
            </a:r>
          </a:p>
        </p:txBody>
      </p:sp>
      <p:sp>
        <p:nvSpPr>
          <p:cNvPr id="24" name="sector-link-0">
            <a:extLst xmlns:a="http://schemas.openxmlformats.org/drawingml/2006/main">
              <a:ext uri="{FF2B5EF4-FFF2-40B4-BE49-F238E27FC236}">
                <a16:creationId xmlns:a16="http://schemas.microsoft.com/office/drawing/2014/main" id="{7283843C-BC5C-4624-8229-B1F114B2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8605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ector-link-1">
            <a:extLst xmlns:a="http://schemas.openxmlformats.org/drawingml/2006/main">
              <a:ext uri="{FF2B5EF4-FFF2-40B4-BE49-F238E27FC236}">
                <a16:creationId xmlns:a16="http://schemas.microsoft.com/office/drawing/2014/main" id="{233670D5-9BED-445A-AA89-FC7E8EDE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48250"/>
            <a:ext cx="2247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ector-link-2">
            <a:extLst xmlns:a="http://schemas.openxmlformats.org/drawingml/2006/main">
              <a:ext uri="{FF2B5EF4-FFF2-40B4-BE49-F238E27FC236}">
                <a16:creationId xmlns:a16="http://schemas.microsoft.com/office/drawing/2014/main" id="{BD8EC151-6A62-473A-B8C0-0768CF46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4825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ector-link-3">
            <a:extLst xmlns:a="http://schemas.openxmlformats.org/drawingml/2006/main">
              <a:ext uri="{FF2B5EF4-FFF2-40B4-BE49-F238E27FC236}">
                <a16:creationId xmlns:a16="http://schemas.microsoft.com/office/drawing/2014/main" id="{FE17590F-8215-44CC-AAE9-623B9770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86050"/>
            <a:ext cx="1276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ector-link-4">
            <a:extLst xmlns:a="http://schemas.openxmlformats.org/drawingml/2006/main">
              <a:ext uri="{FF2B5EF4-FFF2-40B4-BE49-F238E27FC236}">
                <a16:creationId xmlns:a16="http://schemas.microsoft.com/office/drawing/2014/main" id="{E4FBB802-7E3B-4395-B6F6-06C85176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29050"/>
            <a:ext cx="285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center-top-dot">
            <a:extLst xmlns:a="http://schemas.openxmlformats.org/drawingml/2006/main">
              <a:ext uri="{FF2B5EF4-FFF2-40B4-BE49-F238E27FC236}">
                <a16:creationId xmlns:a16="http://schemas.microsoft.com/office/drawing/2014/main" id="{8B0E419F-AC4F-4030-9610-0288BCB8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center-bottom-dot">
            <a:extLst xmlns:a="http://schemas.openxmlformats.org/drawingml/2006/main">
              <a:ext uri="{FF2B5EF4-FFF2-40B4-BE49-F238E27FC236}">
                <a16:creationId xmlns:a16="http://schemas.microsoft.com/office/drawing/2014/main" id="{BFF73102-A035-4C76-9CF1-916ED3F3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52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ector-claim-box">
            <a:extLst xmlns:a="http://schemas.openxmlformats.org/drawingml/2006/main">
              <a:ext uri="{FF2B5EF4-FFF2-40B4-BE49-F238E27FC236}">
                <a16:creationId xmlns:a16="http://schemas.microsoft.com/office/drawing/2014/main" id="{720C303A-C9DE-4449-A223-CA9E8979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09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3D6"/>
          </a:solidFill>
          <a:ln xmlns:a="http://schemas.openxmlformats.org/drawingml/2006/main" w="9525">
            <a:solidFill>
              <a:srgbClr val="D4C8B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7656F9-45D9-44DE-946F-9D6C2BA9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86425"/>
            <a:ext cx="110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Commercial unlock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013359-FE40-4EDF-B963-B1D850D2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57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Electricity demand growth becomes manageable when flexible assets are coordinated as a portfolio rather than optimized one sector at a time.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609B9E-B1D9-4CFE-9953-AADCFED2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578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BFF"/>
                </a:solidFill>
                <a:latin typeface="Aptos"/>
                <a:ea typeface="Aptos"/>
                <a:cs typeface="Aptos"/>
              </a:rPr>
              <a:t>17M+ EV sales in 2024</a:t>
            </a:r>
          </a:p>
        </p:txBody>
      </p:sp>
      <p:sp>
        <p:nvSpPr>
          <p:cNvPr id="3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192D515-7425-4ABC-86F3-9059CFCF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F7A1350-931C-467B-9898-7B9465AC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D879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2AF2A1B-B49B-4EBA-828E-CF6DFAFF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486525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7D8796"/>
                </a:solidFill>
                <a:latin typeface="Aptos"/>
                <a:ea typeface="Aptos"/>
                <a:cs typeface="Aptos"/>
              </a:rPr>
              <a:t>Source: IEA Global EV Outlook 2025</a:t>
            </a:r>
          </a:p>
        </p:txBody>
      </p:sp>
    </p:spTree>
    <p:extLst>
      <p:ext uri="{BB962C8B-B14F-4D97-AF65-F5344CB8AC3E}">
        <p14:creationId xmlns:p14="http://schemas.microsoft.com/office/powerpoint/2010/main" val="8425020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C3D684D-D258-416A-99DC-8DE4918B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03DCF865-A15C-4414-926B-8EDE9B1F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CABA6971-81E9-4FAF-9828-2D3D4C56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SCALING RISKS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F2E0F-A537-49E4-AFC9-0CBAEE97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scaling bottleneck is governance as much as technology.</a:t>
            </a:r>
          </a:p>
        </p:txBody>
      </p:sp>
      <p:sp>
        <p:nvSpPr>
          <p:cNvPr id="5" name="risk-header-bg">
            <a:extLst xmlns:a="http://schemas.openxmlformats.org/drawingml/2006/main">
              <a:ext uri="{FF2B5EF4-FFF2-40B4-BE49-F238E27FC236}">
                <a16:creationId xmlns:a16="http://schemas.microsoft.com/office/drawing/2014/main" id="{7AA431FC-7AD1-46E8-B33F-0CC9BB06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119B1-A20D-47D4-BCFC-EF953A39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543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7DFEB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D7DFEB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1A276-2EE0-411B-8611-8CC0A472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0"/>
            <a:ext cx="2114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7DFEB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D7DFEB"/>
                </a:solidFill>
                <a:latin typeface="Aptos"/>
                <a:ea typeface="Aptos"/>
                <a:cs typeface="Aptos"/>
              </a:rPr>
              <a:t>EARLY 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F8675-C8BC-4D8F-9315-3AEFC888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86000"/>
            <a:ext cx="3733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7DFEB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D7DFEB"/>
                </a:solidFill>
                <a:latin typeface="Aptos"/>
                <a:ea typeface="Aptos"/>
                <a:cs typeface="Aptos"/>
              </a:rPr>
              <a:t>FAILURE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207AE-9F8F-46D2-AA1B-C6F574BE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1828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7DFEB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D7DFEB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0" name="risk-row-0">
            <a:extLst xmlns:a="http://schemas.openxmlformats.org/drawingml/2006/main">
              <a:ext uri="{FF2B5EF4-FFF2-40B4-BE49-F238E27FC236}">
                <a16:creationId xmlns:a16="http://schemas.microsoft.com/office/drawing/2014/main" id="{8DC61041-0F4F-40B2-9C73-C7822B4A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B6B0C-6943-494C-90B2-99FA9798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Cybersecurity</a:t>
            </a:r>
          </a:p>
        </p:txBody>
      </p:sp>
      <p:sp>
        <p:nvSpPr>
          <p:cNvPr id="12" name="risk-vline-0-1">
            <a:extLst xmlns:a="http://schemas.openxmlformats.org/drawingml/2006/main">
              <a:ext uri="{FF2B5EF4-FFF2-40B4-BE49-F238E27FC236}">
                <a16:creationId xmlns:a16="http://schemas.microsoft.com/office/drawing/2014/main" id="{50A0A09C-E694-47C1-BA94-38408070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527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6D26E-0717-456A-A182-94725409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955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More connected controls</a:t>
            </a:r>
          </a:p>
        </p:txBody>
      </p:sp>
      <p:sp>
        <p:nvSpPr>
          <p:cNvPr id="14" name="risk-vline-0-2">
            <a:extLst xmlns:a="http://schemas.openxmlformats.org/drawingml/2006/main">
              <a:ext uri="{FF2B5EF4-FFF2-40B4-BE49-F238E27FC236}">
                <a16:creationId xmlns:a16="http://schemas.microsoft.com/office/drawing/2014/main" id="{6DE34382-9208-4CC1-AD85-D77908BB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527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4E461-D16A-47C8-8255-EB76032E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95575"/>
            <a:ext cx="377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Attack surface expands from IT into operational dispatch.</a:t>
            </a:r>
          </a:p>
        </p:txBody>
      </p:sp>
      <p:sp>
        <p:nvSpPr>
          <p:cNvPr id="16" name="risk-vline-0-3">
            <a:extLst xmlns:a="http://schemas.openxmlformats.org/drawingml/2006/main">
              <a:ext uri="{FF2B5EF4-FFF2-40B4-BE49-F238E27FC236}">
                <a16:creationId xmlns:a16="http://schemas.microsoft.com/office/drawing/2014/main" id="{A580DFC0-8C11-4CA9-BF83-DADD5251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527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596D4-C1CC-4381-BFAB-ADD39FFB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9557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2B3038"/>
                </a:solidFill>
                <a:latin typeface="Aptos"/>
                <a:ea typeface="Aptos"/>
                <a:cs typeface="Aptos"/>
              </a:rPr>
              <a:t>zero-trust OT</a:t>
            </a:r>
          </a:p>
        </p:txBody>
      </p:sp>
      <p:sp>
        <p:nvSpPr>
          <p:cNvPr id="18" name="risk-row-1">
            <a:extLst xmlns:a="http://schemas.openxmlformats.org/drawingml/2006/main">
              <a:ext uri="{FF2B5EF4-FFF2-40B4-BE49-F238E27FC236}">
                <a16:creationId xmlns:a16="http://schemas.microsoft.com/office/drawing/2014/main" id="{25B1B8C0-F5AC-4091-A26F-B9CEA304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6BB26-859B-412C-89FA-A2D93961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Materials</a:t>
            </a:r>
          </a:p>
        </p:txBody>
      </p:sp>
      <p:sp>
        <p:nvSpPr>
          <p:cNvPr id="20" name="risk-vline-1-1">
            <a:extLst xmlns:a="http://schemas.openxmlformats.org/drawingml/2006/main">
              <a:ext uri="{FF2B5EF4-FFF2-40B4-BE49-F238E27FC236}">
                <a16:creationId xmlns:a16="http://schemas.microsoft.com/office/drawing/2014/main" id="{7DC39FD5-CE69-4FC1-AA2C-B99E72DA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432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F0CC0C-7F78-4354-8DD4-41C03944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8612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Critical mineral pressure</a:t>
            </a:r>
          </a:p>
        </p:txBody>
      </p:sp>
      <p:sp>
        <p:nvSpPr>
          <p:cNvPr id="22" name="risk-vline-1-2">
            <a:extLst xmlns:a="http://schemas.openxmlformats.org/drawingml/2006/main">
              <a:ext uri="{FF2B5EF4-FFF2-40B4-BE49-F238E27FC236}">
                <a16:creationId xmlns:a16="http://schemas.microsoft.com/office/drawing/2014/main" id="{A3ADEBCE-B8E0-4EB2-880B-BC7FCF25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432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B49D4-4704-40C9-ADBD-8B698659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86125"/>
            <a:ext cx="377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Bottlenecks slow batteries, magnets, and power devices.</a:t>
            </a:r>
          </a:p>
        </p:txBody>
      </p:sp>
      <p:sp>
        <p:nvSpPr>
          <p:cNvPr id="24" name="risk-vline-1-3">
            <a:extLst xmlns:a="http://schemas.openxmlformats.org/drawingml/2006/main">
              <a:ext uri="{FF2B5EF4-FFF2-40B4-BE49-F238E27FC236}">
                <a16:creationId xmlns:a16="http://schemas.microsoft.com/office/drawing/2014/main" id="{9796B0C2-8F33-41F7-A959-BCB9216A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432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F652BA-A6F7-4589-812B-7E59382E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8612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2B3038"/>
                </a:solidFill>
                <a:latin typeface="Aptos"/>
                <a:ea typeface="Aptos"/>
                <a:cs typeface="Aptos"/>
              </a:rPr>
              <a:t>dual sourcing</a:t>
            </a:r>
          </a:p>
        </p:txBody>
      </p:sp>
      <p:sp>
        <p:nvSpPr>
          <p:cNvPr id="26" name="risk-row-2">
            <a:extLst xmlns:a="http://schemas.openxmlformats.org/drawingml/2006/main">
              <a:ext uri="{FF2B5EF4-FFF2-40B4-BE49-F238E27FC236}">
                <a16:creationId xmlns:a16="http://schemas.microsoft.com/office/drawing/2014/main" id="{DBDD9B90-3658-4633-AF53-6E2C7EF6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960F8F-5B35-4991-AA3C-013A0F8B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Interoperability</a:t>
            </a:r>
          </a:p>
        </p:txBody>
      </p:sp>
      <p:sp>
        <p:nvSpPr>
          <p:cNvPr id="28" name="risk-vline-2-1">
            <a:extLst xmlns:a="http://schemas.openxmlformats.org/drawingml/2006/main">
              <a:ext uri="{FF2B5EF4-FFF2-40B4-BE49-F238E27FC236}">
                <a16:creationId xmlns:a16="http://schemas.microsoft.com/office/drawing/2014/main" id="{8D0A1F56-AD2C-48F8-BED6-DFCAC359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338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D0BAC7-11DB-422B-8F67-0C0E2FC0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766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Vendor-specific protocols</a:t>
            </a:r>
          </a:p>
        </p:txBody>
      </p:sp>
      <p:sp>
        <p:nvSpPr>
          <p:cNvPr id="30" name="risk-vline-2-2">
            <a:extLst xmlns:a="http://schemas.openxmlformats.org/drawingml/2006/main">
              <a:ext uri="{FF2B5EF4-FFF2-40B4-BE49-F238E27FC236}">
                <a16:creationId xmlns:a16="http://schemas.microsoft.com/office/drawing/2014/main" id="{607946F1-724C-4D3F-A307-62F842A3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338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6882A1-DBC8-4561-99DE-EE202465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76675"/>
            <a:ext cx="377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DERs cannot coordinate at feeder or portfolio scale.</a:t>
            </a:r>
          </a:p>
        </p:txBody>
      </p:sp>
      <p:sp>
        <p:nvSpPr>
          <p:cNvPr id="32" name="risk-vline-2-3">
            <a:extLst xmlns:a="http://schemas.openxmlformats.org/drawingml/2006/main">
              <a:ext uri="{FF2B5EF4-FFF2-40B4-BE49-F238E27FC236}">
                <a16:creationId xmlns:a16="http://schemas.microsoft.com/office/drawing/2014/main" id="{71631971-D41E-4FE9-8D59-41B3DC01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338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356CAB-7D18-4A72-9676-6028C14A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7667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2B3038"/>
                </a:solidFill>
                <a:latin typeface="Aptos"/>
                <a:ea typeface="Aptos"/>
                <a:cs typeface="Aptos"/>
              </a:rPr>
              <a:t>open standards</a:t>
            </a:r>
          </a:p>
        </p:txBody>
      </p:sp>
      <p:sp>
        <p:nvSpPr>
          <p:cNvPr id="34" name="risk-row-3">
            <a:extLst xmlns:a="http://schemas.openxmlformats.org/drawingml/2006/main">
              <a:ext uri="{FF2B5EF4-FFF2-40B4-BE49-F238E27FC236}">
                <a16:creationId xmlns:a16="http://schemas.microsoft.com/office/drawing/2014/main" id="{B61B093C-644B-41A0-BA54-0D5AC9CE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90E987-0CBF-4A8B-BB51-3501459D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Reliability</a:t>
            </a:r>
          </a:p>
        </p:txBody>
      </p:sp>
      <p:sp>
        <p:nvSpPr>
          <p:cNvPr id="36" name="risk-vline-3-1">
            <a:extLst xmlns:a="http://schemas.openxmlformats.org/drawingml/2006/main">
              <a:ext uri="{FF2B5EF4-FFF2-40B4-BE49-F238E27FC236}">
                <a16:creationId xmlns:a16="http://schemas.microsoft.com/office/drawing/2014/main" id="{F4AB4660-80E0-4B43-B87D-ADD8AEC4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243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314E5D-2083-43D4-B2FC-561B5842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6722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Weather and load volatility</a:t>
            </a:r>
          </a:p>
        </p:txBody>
      </p:sp>
      <p:sp>
        <p:nvSpPr>
          <p:cNvPr id="38" name="risk-vline-3-2">
            <a:extLst xmlns:a="http://schemas.openxmlformats.org/drawingml/2006/main">
              <a:ext uri="{FF2B5EF4-FFF2-40B4-BE49-F238E27FC236}">
                <a16:creationId xmlns:a16="http://schemas.microsoft.com/office/drawing/2014/main" id="{C1A458D1-2D76-40DE-8FAC-8E4CE404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243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286291-76D5-4E4B-B01E-BB1B2CB4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67225"/>
            <a:ext cx="377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Flexible assets respond too late or in conflict.</a:t>
            </a:r>
          </a:p>
        </p:txBody>
      </p:sp>
      <p:sp>
        <p:nvSpPr>
          <p:cNvPr id="40" name="risk-vline-3-3">
            <a:extLst xmlns:a="http://schemas.openxmlformats.org/drawingml/2006/main">
              <a:ext uri="{FF2B5EF4-FFF2-40B4-BE49-F238E27FC236}">
                <a16:creationId xmlns:a16="http://schemas.microsoft.com/office/drawing/2014/main" id="{428CFA7F-F054-4BA7-BCE3-1BE4F32C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243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395268-C8C0-44FA-A246-B376EA73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6722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2B3038"/>
                </a:solidFill>
                <a:latin typeface="Aptos"/>
                <a:ea typeface="Aptos"/>
                <a:cs typeface="Aptos"/>
              </a:rPr>
              <a:t>scenario drills</a:t>
            </a:r>
          </a:p>
        </p:txBody>
      </p:sp>
      <p:sp>
        <p:nvSpPr>
          <p:cNvPr id="42" name="risk-row-4">
            <a:extLst xmlns:a="http://schemas.openxmlformats.org/drawingml/2006/main">
              <a:ext uri="{FF2B5EF4-FFF2-40B4-BE49-F238E27FC236}">
                <a16:creationId xmlns:a16="http://schemas.microsoft.com/office/drawing/2014/main" id="{D186A96D-E9B6-4A89-AF5C-A522AE53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CB1B3C-242B-419C-B7E8-5C712795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Affordability</a:t>
            </a:r>
          </a:p>
        </p:txBody>
      </p:sp>
      <p:sp>
        <p:nvSpPr>
          <p:cNvPr id="44" name="risk-vline-4-1">
            <a:extLst xmlns:a="http://schemas.openxmlformats.org/drawingml/2006/main">
              <a:ext uri="{FF2B5EF4-FFF2-40B4-BE49-F238E27FC236}">
                <a16:creationId xmlns:a16="http://schemas.microsoft.com/office/drawing/2014/main" id="{47F077CE-CBAE-4215-8F89-DD4F96D3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149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4E1140-D5D8-44E8-A137-C477896A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57775"/>
            <a:ext cx="2152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Uneven cost recovery</a:t>
            </a:r>
          </a:p>
        </p:txBody>
      </p:sp>
      <p:sp>
        <p:nvSpPr>
          <p:cNvPr id="46" name="risk-vline-4-2">
            <a:extLst xmlns:a="http://schemas.openxmlformats.org/drawingml/2006/main">
              <a:ext uri="{FF2B5EF4-FFF2-40B4-BE49-F238E27FC236}">
                <a16:creationId xmlns:a16="http://schemas.microsoft.com/office/drawing/2014/main" id="{33643E50-6B65-4E21-88B3-08CBADAC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149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5EB9EE-651D-42D5-94CE-AA4ECB1B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57775"/>
            <a:ext cx="377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Innovation improves averages but leaves weak customers behind.</a:t>
            </a:r>
          </a:p>
        </p:txBody>
      </p:sp>
      <p:sp>
        <p:nvSpPr>
          <p:cNvPr id="48" name="risk-vline-4-3">
            <a:extLst xmlns:a="http://schemas.openxmlformats.org/drawingml/2006/main">
              <a:ext uri="{FF2B5EF4-FFF2-40B4-BE49-F238E27FC236}">
                <a16:creationId xmlns:a16="http://schemas.microsoft.com/office/drawing/2014/main" id="{9E9B58AB-6C7E-4E4A-85D7-829D1B61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149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4626E3-2406-4F1C-9484-9E25D3E1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57775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2B3038"/>
                </a:solidFill>
                <a:latin typeface="Aptos"/>
                <a:ea typeface="Aptos"/>
                <a:cs typeface="Aptos"/>
              </a:rPr>
              <a:t>tariff design</a:t>
            </a:r>
          </a:p>
        </p:txBody>
      </p:sp>
      <p:sp>
        <p:nvSpPr>
          <p:cNvPr id="50" name="risk-table-bottom">
            <a:extLst xmlns:a="http://schemas.openxmlformats.org/drawingml/2006/main">
              <a:ext uri="{FF2B5EF4-FFF2-40B4-BE49-F238E27FC236}">
                <a16:creationId xmlns:a16="http://schemas.microsoft.com/office/drawing/2014/main" id="{D5BBABB2-E1E6-45FE-85D1-8847CE6D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B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isk-callout">
            <a:extLst xmlns:a="http://schemas.openxmlformats.org/drawingml/2006/main">
              <a:ext uri="{FF2B5EF4-FFF2-40B4-BE49-F238E27FC236}">
                <a16:creationId xmlns:a16="http://schemas.microsoft.com/office/drawing/2014/main" id="{B01205E0-54C3-442C-AFA2-A14E387D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76300"/>
            <a:ext cx="2095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6CAB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0D466F-C4F8-470D-9996-AD2DB073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04775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Board question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D2A9EE-7FE1-47D1-B83F-A0E83057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What must be standardized before scale makes the problem expensive?</a:t>
            </a:r>
          </a:p>
        </p:txBody>
      </p:sp>
      <p:sp>
        <p:nvSpPr>
          <p:cNvPr id="5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2828556-C415-46D2-880C-847BCDC5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AFE602D-34E3-4975-810C-A857FE10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D879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7C03ABC-14A1-4EF4-B694-AE6D05F6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486525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7D8796"/>
                </a:solidFill>
                <a:latin typeface="Aptos"/>
                <a:ea typeface="Aptos"/>
                <a:cs typeface="Aptos"/>
              </a:rPr>
              <a:t>Source: Strategic synthesis</a:t>
            </a:r>
          </a:p>
        </p:txBody>
      </p:sp>
    </p:spTree>
    <p:extLst>
      <p:ext uri="{BB962C8B-B14F-4D97-AF65-F5344CB8AC3E}">
        <p14:creationId xmlns:p14="http://schemas.microsoft.com/office/powerpoint/2010/main" val="21285233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746BCD9-F1F8-44A8-A5C2-99CB41A3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4726A46D-93B9-40DE-90AC-309391A7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54E1228E-6DA4-4B9E-91A0-ABC0FE99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EXECUTION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C7DA0-F7B0-4E9C-88C6-DF24B87A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 staged roadmap turns innovation themes into operating capability.</a:t>
            </a:r>
          </a:p>
        </p:txBody>
      </p:sp>
      <p:sp>
        <p:nvSpPr>
          <p:cNvPr id="5" name="roadmap-line">
            <a:extLst xmlns:a="http://schemas.openxmlformats.org/drawingml/2006/main">
              <a:ext uri="{FF2B5EF4-FFF2-40B4-BE49-F238E27FC236}">
                <a16:creationId xmlns:a16="http://schemas.microsoft.com/office/drawing/2014/main" id="{DA631744-CDDB-46D7-8CE9-F272A8CA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6229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8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oadmap-pin-0">
            <a:extLst xmlns:a="http://schemas.openxmlformats.org/drawingml/2006/main">
              <a:ext uri="{FF2B5EF4-FFF2-40B4-BE49-F238E27FC236}">
                <a16:creationId xmlns:a16="http://schemas.microsoft.com/office/drawing/2014/main" id="{90B63E41-9D62-460E-8467-CC4C0814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oadmap-box-0">
            <a:extLst xmlns:a="http://schemas.openxmlformats.org/drawingml/2006/main">
              <a:ext uri="{FF2B5EF4-FFF2-40B4-BE49-F238E27FC236}">
                <a16:creationId xmlns:a16="http://schemas.microsoft.com/office/drawing/2014/main" id="{4B7E8CD7-84D1-4904-A7FA-555BDD70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619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9525">
            <a:solidFill>
              <a:srgbClr val="D6CAB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BAA31-ABD2-4E7C-85AA-346B4BCF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BFF"/>
                </a:solidFill>
                <a:latin typeface="Aptos"/>
                <a:ea typeface="Aptos"/>
                <a:cs typeface="Aptos"/>
              </a:rPr>
              <a:t>0-6 months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7ED02-858D-43FA-AB73-B336272B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9A85C-F0E9-4C62-A2AB-93791268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map loads, assets, constraints, telemetry gaps</a:t>
            </a:r>
          </a:p>
        </p:txBody>
      </p:sp>
      <p:sp>
        <p:nvSpPr>
          <p:cNvPr id="11" name="roadmap-phase-0-tag-box">
            <a:extLst xmlns:a="http://schemas.openxmlformats.org/drawingml/2006/main">
              <a:ext uri="{FF2B5EF4-FFF2-40B4-BE49-F238E27FC236}">
                <a16:creationId xmlns:a16="http://schemas.microsoft.com/office/drawing/2014/main" id="{6385B223-CACF-4237-9E3B-05A04AC9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2" name="roadmap-phase-0-tag-label">
            <a:extLst xmlns:a="http://schemas.openxmlformats.org/drawingml/2006/main">
              <a:ext uri="{FF2B5EF4-FFF2-40B4-BE49-F238E27FC236}">
                <a16:creationId xmlns:a16="http://schemas.microsoft.com/office/drawing/2014/main" id="{AAB2082F-CE95-4AD1-A46B-AD880FD7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55295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2F6BFF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13" name="roadmap-pin-1">
            <a:extLst xmlns:a="http://schemas.openxmlformats.org/drawingml/2006/main">
              <a:ext uri="{FF2B5EF4-FFF2-40B4-BE49-F238E27FC236}">
                <a16:creationId xmlns:a16="http://schemas.microsoft.com/office/drawing/2014/main" id="{3AA7E587-A8BA-4548-885A-F2368C8C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9527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oadmap-box-1">
            <a:extLst xmlns:a="http://schemas.openxmlformats.org/drawingml/2006/main">
              <a:ext uri="{FF2B5EF4-FFF2-40B4-BE49-F238E27FC236}">
                <a16:creationId xmlns:a16="http://schemas.microsoft.com/office/drawing/2014/main" id="{A576BEC0-F749-4A85-8DF8-6A4DB9E4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81400"/>
            <a:ext cx="1619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D"/>
          </a:solidFill>
          <a:ln xmlns:a="http://schemas.openxmlformats.org/drawingml/2006/main" w="9525">
            <a:solidFill>
              <a:srgbClr val="D6CA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5CBCD-2805-4A07-864B-7C9C5552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43840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8C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C8C70"/>
                </a:solidFill>
                <a:latin typeface="Aptos"/>
                <a:ea typeface="Aptos"/>
                <a:cs typeface="Aptos"/>
              </a:rPr>
              <a:t>6-12 months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6EB1F-2D2C-40E4-965F-C7272E25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0510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81771-74F5-4FA7-AF3E-AF4037F4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8481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deploy controlled charging, BESS dispatch, feeder sensing</a:t>
            </a:r>
          </a:p>
        </p:txBody>
      </p:sp>
      <p:sp>
        <p:nvSpPr>
          <p:cNvPr id="18" name="roadmap-phase-1-tag-box">
            <a:extLst xmlns:a="http://schemas.openxmlformats.org/drawingml/2006/main">
              <a:ext uri="{FF2B5EF4-FFF2-40B4-BE49-F238E27FC236}">
                <a16:creationId xmlns:a16="http://schemas.microsoft.com/office/drawing/2014/main" id="{39331A97-65A8-4C52-9108-CEE81FD0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5148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C8C70"/>
            </a:solidFill>
            <a:prstDash val="solid"/>
          </a:ln>
        </p:spPr>
      </p:sp>
      <p:sp>
        <p:nvSpPr>
          <p:cNvPr id="19" name="roadmap-phase-1-tag-label">
            <a:extLst xmlns:a="http://schemas.openxmlformats.org/drawingml/2006/main">
              <a:ext uri="{FF2B5EF4-FFF2-40B4-BE49-F238E27FC236}">
                <a16:creationId xmlns:a16="http://schemas.microsoft.com/office/drawing/2014/main" id="{38A0EB04-B0A7-4D90-A303-50E21742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5295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2C8C7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2C8C70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20" name="roadmap-pin-2">
            <a:extLst xmlns:a="http://schemas.openxmlformats.org/drawingml/2006/main">
              <a:ext uri="{FF2B5EF4-FFF2-40B4-BE49-F238E27FC236}">
                <a16:creationId xmlns:a16="http://schemas.microsoft.com/office/drawing/2014/main" id="{909CB6A6-56DA-46DF-9B7A-0059146A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527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oadmap-box-2">
            <a:extLst xmlns:a="http://schemas.openxmlformats.org/drawingml/2006/main">
              <a:ext uri="{FF2B5EF4-FFF2-40B4-BE49-F238E27FC236}">
                <a16:creationId xmlns:a16="http://schemas.microsoft.com/office/drawing/2014/main" id="{134C0B41-ECE3-4C27-8716-E154890F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81400"/>
            <a:ext cx="1619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8"/>
          </a:solidFill>
          <a:ln xmlns:a="http://schemas.openxmlformats.org/drawingml/2006/main" w="9525">
            <a:solidFill>
              <a:srgbClr val="D6CAB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C78A1-0C58-45A1-8E1C-BB9703FE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3840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16A2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16A2D"/>
                </a:solidFill>
                <a:latin typeface="Aptos"/>
                <a:ea typeface="Aptos"/>
                <a:cs typeface="Aptos"/>
              </a:rPr>
              <a:t>12-18 months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0D736-60E4-41EE-B673-0102F573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0510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Integrate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F530A-7834-4A3A-A9CD-54B72023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481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connect DERMS / ADMS logic, tariffs, and operations playbooks</a:t>
            </a:r>
          </a:p>
        </p:txBody>
      </p:sp>
      <p:sp>
        <p:nvSpPr>
          <p:cNvPr id="25" name="roadmap-phase-2-tag-box">
            <a:extLst xmlns:a="http://schemas.openxmlformats.org/drawingml/2006/main">
              <a:ext uri="{FF2B5EF4-FFF2-40B4-BE49-F238E27FC236}">
                <a16:creationId xmlns:a16="http://schemas.microsoft.com/office/drawing/2014/main" id="{D96B6A3B-2801-4666-8746-3565D0AD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148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16A2D"/>
            </a:solidFill>
            <a:prstDash val="solid"/>
          </a:ln>
        </p:spPr>
      </p:sp>
      <p:sp>
        <p:nvSpPr>
          <p:cNvPr id="26" name="roadmap-phase-2-tag-label">
            <a:extLst xmlns:a="http://schemas.openxmlformats.org/drawingml/2006/main">
              <a:ext uri="{FF2B5EF4-FFF2-40B4-BE49-F238E27FC236}">
                <a16:creationId xmlns:a16="http://schemas.microsoft.com/office/drawing/2014/main" id="{F543CFE5-AAA3-4C23-B63B-926DEB13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55295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C16A2D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C16A2D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27" name="roadmap-pin-3">
            <a:extLst xmlns:a="http://schemas.openxmlformats.org/drawingml/2006/main">
              <a:ext uri="{FF2B5EF4-FFF2-40B4-BE49-F238E27FC236}">
                <a16:creationId xmlns:a16="http://schemas.microsoft.com/office/drawing/2014/main" id="{3F04C414-DA1F-4831-9634-644E5465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952750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oadmap-box-3">
            <a:extLst xmlns:a="http://schemas.openxmlformats.org/drawingml/2006/main">
              <a:ext uri="{FF2B5EF4-FFF2-40B4-BE49-F238E27FC236}">
                <a16:creationId xmlns:a16="http://schemas.microsoft.com/office/drawing/2014/main" id="{FA2505C8-D794-443B-BEB9-FE4C9940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581400"/>
            <a:ext cx="1619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D"/>
          </a:solidFill>
          <a:ln xmlns:a="http://schemas.openxmlformats.org/drawingml/2006/main" w="9525">
            <a:solidFill>
              <a:srgbClr val="D6CAB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E57692-D632-4635-9694-DBAFF833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43840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94B4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94B4B"/>
                </a:solidFill>
                <a:latin typeface="Aptos"/>
                <a:ea typeface="Aptos"/>
                <a:cs typeface="Aptos"/>
              </a:rPr>
              <a:t>18-24 months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8BD54C-A94D-4D4F-B170-B3759EA6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05100"/>
            <a:ext cx="93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Scale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F2CACA-2832-40B2-958F-79442825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8481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standardize controls, cyber gates, and investment governance</a:t>
            </a:r>
          </a:p>
        </p:txBody>
      </p:sp>
      <p:sp>
        <p:nvSpPr>
          <p:cNvPr id="32" name="roadmap-phase-3-tag-box">
            <a:extLst xmlns:a="http://schemas.openxmlformats.org/drawingml/2006/main">
              <a:ext uri="{FF2B5EF4-FFF2-40B4-BE49-F238E27FC236}">
                <a16:creationId xmlns:a16="http://schemas.microsoft.com/office/drawing/2014/main" id="{FE53DDFE-DCF9-49CC-BC36-8643EAC7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5148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94B4B"/>
            </a:solidFill>
            <a:prstDash val="solid"/>
          </a:ln>
        </p:spPr>
      </p:sp>
      <p:sp>
        <p:nvSpPr>
          <p:cNvPr id="33" name="roadmap-phase-3-tag-label">
            <a:extLst xmlns:a="http://schemas.openxmlformats.org/drawingml/2006/main">
              <a:ext uri="{FF2B5EF4-FFF2-40B4-BE49-F238E27FC236}">
                <a16:creationId xmlns:a16="http://schemas.microsoft.com/office/drawing/2014/main" id="{6337877B-DC7D-4364-9949-9C3D9F9F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5295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B94B4B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94B4B"/>
                </a:solidFill>
                <a:latin typeface="Aptos"/>
                <a:ea typeface="Aptos"/>
                <a:cs typeface="Aptos"/>
              </a:rPr>
              <a:t>PHASE 4</a:t>
            </a:r>
          </a:p>
        </p:txBody>
      </p:sp>
      <p:sp>
        <p:nvSpPr>
          <p:cNvPr id="34" name="kpi-panel">
            <a:extLst xmlns:a="http://schemas.openxmlformats.org/drawingml/2006/main">
              <a:ext uri="{FF2B5EF4-FFF2-40B4-BE49-F238E27FC236}">
                <a16:creationId xmlns:a16="http://schemas.microsoft.com/office/drawing/2014/main" id="{E332EFC4-57F5-4D47-B432-234E150A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2669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EBC6F2-5854-4650-8AE7-FE6A5385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193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KPI cockpit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47C2BF-8AC5-4F1A-9B18-E2DE841C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C7D0D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C7D0DD"/>
                </a:solidFill>
                <a:latin typeface="Aptos"/>
                <a:ea typeface="Aptos"/>
                <a:cs typeface="Aptos"/>
              </a:rPr>
              <a:t>Peak load shifted</a:t>
            </a:r>
          </a:p>
        </p:txBody>
      </p:sp>
      <p:sp>
        <p:nvSpPr>
          <p:cNvPr id="37" name="kpi-0-track">
            <a:extLst xmlns:a="http://schemas.openxmlformats.org/drawingml/2006/main">
              <a:ext uri="{FF2B5EF4-FFF2-40B4-BE49-F238E27FC236}">
                <a16:creationId xmlns:a16="http://schemas.microsoft.com/office/drawing/2014/main" id="{6BDEDFF0-ED1F-4532-9AF1-4AB04D8F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19400"/>
            <a:ext cx="1428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kpi-0-fill">
            <a:extLst xmlns:a="http://schemas.openxmlformats.org/drawingml/2006/main">
              <a:ext uri="{FF2B5EF4-FFF2-40B4-BE49-F238E27FC236}">
                <a16:creationId xmlns:a16="http://schemas.microsoft.com/office/drawing/2014/main" id="{7EE8F34D-D76B-4F78-9776-5EB21666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19400"/>
            <a:ext cx="1028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1AFEC3-02EC-4061-B2FF-8C69BFF4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7622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72%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AE4B63-2488-4867-94F1-A6E0CC89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623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C7D0D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C7D0DD"/>
                </a:solidFill>
                <a:latin typeface="Aptos"/>
                <a:ea typeface="Aptos"/>
                <a:cs typeface="Aptos"/>
              </a:rPr>
              <a:t>Converter efficiency</a:t>
            </a:r>
          </a:p>
        </p:txBody>
      </p:sp>
      <p:sp>
        <p:nvSpPr>
          <p:cNvPr id="41" name="kpi-1-track">
            <a:extLst xmlns:a="http://schemas.openxmlformats.org/drawingml/2006/main">
              <a:ext uri="{FF2B5EF4-FFF2-40B4-BE49-F238E27FC236}">
                <a16:creationId xmlns:a16="http://schemas.microsoft.com/office/drawing/2014/main" id="{FAAC74F7-5169-4742-96D2-35646996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1428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kpi-1-fill">
            <a:extLst xmlns:a="http://schemas.openxmlformats.org/drawingml/2006/main">
              <a:ext uri="{FF2B5EF4-FFF2-40B4-BE49-F238E27FC236}">
                <a16:creationId xmlns:a16="http://schemas.microsoft.com/office/drawing/2014/main" id="{6F6D451E-BDCF-4F16-850D-4279DC7E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12001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CEC4BB-F47B-48C2-A16D-1E41A9FC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3147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84%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70D84A-9379-4BE0-80C2-C53F4720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C7D0D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C7D0DD"/>
                </a:solidFill>
                <a:latin typeface="Aptos"/>
                <a:ea typeface="Aptos"/>
                <a:cs typeface="Aptos"/>
              </a:rPr>
              <a:t>Grid visibility</a:t>
            </a:r>
          </a:p>
        </p:txBody>
      </p:sp>
      <p:sp>
        <p:nvSpPr>
          <p:cNvPr id="45" name="kpi-2-track">
            <a:extLst xmlns:a="http://schemas.openxmlformats.org/drawingml/2006/main">
              <a:ext uri="{FF2B5EF4-FFF2-40B4-BE49-F238E27FC236}">
                <a16:creationId xmlns:a16="http://schemas.microsoft.com/office/drawing/2014/main" id="{782BCCEC-B25D-4F0C-B822-B1D49242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24300"/>
            <a:ext cx="1428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kpi-2-fill">
            <a:extLst xmlns:a="http://schemas.openxmlformats.org/drawingml/2006/main">
              <a:ext uri="{FF2B5EF4-FFF2-40B4-BE49-F238E27FC236}">
                <a16:creationId xmlns:a16="http://schemas.microsoft.com/office/drawing/2014/main" id="{59EC9FDE-9A85-4039-B33A-10A5D733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24300"/>
            <a:ext cx="971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86067D-D1C4-4463-A2A1-2A54290D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8671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68%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312532-5D83-4E0A-8835-774333E5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672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C7D0D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C7D0DD"/>
                </a:solidFill>
                <a:latin typeface="Aptos"/>
                <a:ea typeface="Aptos"/>
                <a:cs typeface="Aptos"/>
              </a:rPr>
              <a:t>Cyber controls</a:t>
            </a:r>
          </a:p>
        </p:txBody>
      </p:sp>
      <p:sp>
        <p:nvSpPr>
          <p:cNvPr id="49" name="kpi-3-track">
            <a:extLst xmlns:a="http://schemas.openxmlformats.org/drawingml/2006/main">
              <a:ext uri="{FF2B5EF4-FFF2-40B4-BE49-F238E27FC236}">
                <a16:creationId xmlns:a16="http://schemas.microsoft.com/office/drawing/2014/main" id="{D2DBFBFE-9C7B-4288-9D2B-96724485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76750"/>
            <a:ext cx="1428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pi-3-fill">
            <a:extLst xmlns:a="http://schemas.openxmlformats.org/drawingml/2006/main">
              <a:ext uri="{FF2B5EF4-FFF2-40B4-BE49-F238E27FC236}">
                <a16:creationId xmlns:a16="http://schemas.microsoft.com/office/drawing/2014/main" id="{DCA93121-FD5F-47D6-9B20-72728E1C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76750"/>
            <a:ext cx="1085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736968-AA2C-44E4-8640-6D675372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4196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76%</a:t>
            </a:r>
          </a:p>
        </p:txBody>
      </p:sp>
      <p:sp>
        <p:nvSpPr>
          <p:cNvPr id="52" name="horizon-metric-rule">
            <a:extLst xmlns:a="http://schemas.openxmlformats.org/drawingml/2006/main">
              <a:ext uri="{FF2B5EF4-FFF2-40B4-BE49-F238E27FC236}">
                <a16:creationId xmlns:a16="http://schemas.microsoft.com/office/drawing/2014/main" id="{F7DC3901-1D79-4E4C-BAE7-4A89F845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2915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C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horizon-metric-value">
            <a:extLst xmlns:a="http://schemas.openxmlformats.org/drawingml/2006/main">
              <a:ext uri="{FF2B5EF4-FFF2-40B4-BE49-F238E27FC236}">
                <a16:creationId xmlns:a16="http://schemas.microsoft.com/office/drawing/2014/main" id="{16918628-2EA1-4E87-9535-B6B1D1AF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101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24 mo</a:t>
            </a:r>
          </a:p>
        </p:txBody>
      </p:sp>
      <p:sp>
        <p:nvSpPr>
          <p:cNvPr id="54" name="horizon-metric-label">
            <a:extLst xmlns:a="http://schemas.openxmlformats.org/drawingml/2006/main">
              <a:ext uri="{FF2B5EF4-FFF2-40B4-BE49-F238E27FC236}">
                <a16:creationId xmlns:a16="http://schemas.microsoft.com/office/drawing/2014/main" id="{65F4116D-93BF-4B85-BC27-BD5D234C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4347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C3CAD4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C3CAD4"/>
                </a:solidFill>
                <a:latin typeface="Aptos"/>
                <a:ea typeface="Aptos"/>
                <a:cs typeface="Aptos"/>
              </a:rPr>
              <a:t>CAPABILITY HORIZON</a:t>
            </a:r>
          </a:p>
        </p:txBody>
      </p:sp>
      <p:sp>
        <p:nvSpPr>
          <p:cNvPr id="55" name="horizon-metric-note">
            <a:extLst xmlns:a="http://schemas.openxmlformats.org/drawingml/2006/main">
              <a:ext uri="{FF2B5EF4-FFF2-40B4-BE49-F238E27FC236}">
                <a16:creationId xmlns:a16="http://schemas.microsoft.com/office/drawing/2014/main" id="{480AD5E1-C0AA-476A-B85C-67CE7A7A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8C4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EB8C4"/>
                </a:solidFill>
                <a:latin typeface="Aptos"/>
                <a:ea typeface="Aptos"/>
                <a:cs typeface="Aptos"/>
              </a:rPr>
              <a:t>from pilots to governance</a:t>
            </a:r>
          </a:p>
        </p:txBody>
      </p:sp>
      <p:sp>
        <p:nvSpPr>
          <p:cNvPr id="56" name="closing-box">
            <a:extLst xmlns:a="http://schemas.openxmlformats.org/drawingml/2006/main">
              <a:ext uri="{FF2B5EF4-FFF2-40B4-BE49-F238E27FC236}">
                <a16:creationId xmlns:a16="http://schemas.microsoft.com/office/drawing/2014/main" id="{C2320129-1DA9-4788-B739-E53156F5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752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6CAB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F3E413-3165-4C76-A829-BB7CB90C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1500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Closing principle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B988B3-9876-48BD-A7AB-E40E95B3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76900"/>
            <a:ext cx="558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B303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B3038"/>
                </a:solidFill>
                <a:latin typeface="Aptos"/>
                <a:ea typeface="Aptos"/>
                <a:cs typeface="Aptos"/>
              </a:rPr>
              <a:t>Treat electrical innovation as a capability portfolio: hardware improves the physics, software improves the timing, and governance makes it repeatable.</a:t>
            </a:r>
          </a:p>
        </p:txBody>
      </p:sp>
      <p:sp>
        <p:nvSpPr>
          <p:cNvPr id="5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CDFA116-C905-444C-AB0D-45928A43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7B43779-51A4-4048-A640-2F693B84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D879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0B29B8A-0AD2-4109-B1DB-42868D75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486525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7D879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7D8796"/>
                </a:solidFill>
                <a:latin typeface="Aptos"/>
                <a:ea typeface="Aptos"/>
                <a:cs typeface="Aptos"/>
              </a:rPr>
              <a:t>Source: Strategic synthesis</a:t>
            </a:r>
          </a:p>
        </p:txBody>
      </p:sp>
    </p:spTree>
    <p:extLst>
      <p:ext uri="{BB962C8B-B14F-4D97-AF65-F5344CB8AC3E}">
        <p14:creationId xmlns:p14="http://schemas.microsoft.com/office/powerpoint/2010/main" val="1902861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2026-05-12T19:33:11.3950000Z</dcterms:created>
  <dcterms:modified xsi:type="dcterms:W3CDTF">2026-05-12T19:33:11.3960000Z</dcterms:modified>
</coreProperties>
</file>